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5D8711-F516-42FA-B9DC-EAEC604DAB33}">
  <a:tblStyle styleId="{D35D8711-F516-42FA-B9DC-EAEC604DAB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b2b2a22f8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b2b2a22f8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b2b2a22f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b2b2a22f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b2b2a22f8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b2b2a22f8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b2b2a22f8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b2b2a22f8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b2b2a22f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b2b2a22f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b2b2a22f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b2b2a22f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b2b2a22f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b2b2a22f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b2b2a22f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b2b2a22f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2b2a22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2b2a22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🔹 A. ‘충분한 이해’ 고객 정의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독도토너 상세페이지 방문 고객 필터링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✅스크롤 구간별 도달률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25% / 50% / 75% / 90%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스크롤 75% 이상 도달 고객 cohort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→ 활성화 후보군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🔹 B. 이해했는데 행동 안 한 고객 추출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75% 이상 스크롤했으나 장바구니 미진입 고객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75% 이상 스크롤했으나 구매 미진입 고객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체류시간 상위 30% 고객과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🔹 C. 활성화 병목 지점 포착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이탈 직전 마지막 섹션 파악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성분 / 효능 / 사용법 / 리뷰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view → cart 전환이 급감하는 구간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스크롤 깊이 대비 체류시간 불균형 여부</a:t>
            </a:r>
            <a:br>
              <a:rPr lang="ko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(정량) 페이지 이탈률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(정성) 다른 제품으로 갈아탄 사람들의 이유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(정량) 타사(올리브영 데이터) 데이터-재구매율 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(정량) 헤비유저 기준 세워 뽑기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AARRR의 단계별 이탈률, 행동분석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b2b2a22f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b2b2a22f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2b2a22f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b2b2a22f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A. 첫 구매 cohort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독도토너 첫 구매 고객 필터링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구매일 기준 cohort 설정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B. Retention 신호 지표 생성 (R/F)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첫 구매 후 재방문 여부 (Recency)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동일 상품 재조회 여부 (Frequency)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스크롤 75% 이상 재도달 여부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장바구니 재진입 여부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C. ‘재구매 가능 상태’ 정의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Recency O + Frequency O 고객 그룹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해당 고객 비중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완전 이탈 고객과 행동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D. 이탈 확정 지점 파악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마지막 방문 페이지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마지막 행동 이벤트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첫 구매 후 이탈까지 평균 기간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b2b2a22f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b2b2a22f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A. 구매 고객 행동 재구성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고객 cohort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직전 세션 추출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직전 마지막 방문 페이지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장바구니 체류 시간 분석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B. 구매 vs 미구매 고객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스크롤 깊이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체류시간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FAQ / 리뷰 영역 도달 여부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장바구니 진입 여부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C. 구매 촉발 조건 추정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단품 vs 세트 선택 비율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직전 재조회 여부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전 콘텐츠 소비 순서 분석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가격/혜택 노출 시점과 구매 시점 관계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b2b2a22f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b2b2a22f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2b2a22f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b2b2a22f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b2b2a22f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b2b2a22f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2b2a22f8_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b2b2a22f8_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86850" y="1185400"/>
            <a:ext cx="4312200" cy="2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2"/>
                </a:solidFill>
              </a:rPr>
              <a:t>프로젝트2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0">
                <a:solidFill>
                  <a:schemeClr val="dk2"/>
                </a:solidFill>
              </a:rPr>
              <a:t>이커머스 1팀</a:t>
            </a:r>
            <a:endParaRPr sz="4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한때는 브랜드를 견인했던 ‘독도토너’ → 현재는 잊혀지는 추세 → 구매 활성화를 위한 전략 도출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네이버 자사몰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순한라인</a:t>
            </a:r>
            <a:r>
              <a:rPr lang="ko"/>
              <a:t> → 시대의 변화 → </a:t>
            </a:r>
            <a:r>
              <a:rPr lang="ko"/>
              <a:t>고기능 시대, 피부 장벽 니즈 세분화 → 리포지셔닝 필요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재구매 → 가능성이 있는 고객을 만드는 것이 중요 → </a:t>
            </a:r>
            <a:r>
              <a:rPr lang="ko"/>
              <a:t>UI/UX 개선, CRM(수단)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</a:rPr>
              <a:t>2. 프로젝트 목표 (Goal)</a:t>
            </a:r>
            <a:endParaRPr b="1" sz="17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독도토너 첫 구매 고객 중</a:t>
            </a:r>
            <a:br>
              <a:rPr b="1" lang="ko" sz="1100">
                <a:solidFill>
                  <a:schemeClr val="dk1"/>
                </a:solidFill>
              </a:rPr>
            </a:br>
            <a:r>
              <a:rPr b="1" lang="ko" sz="1100">
                <a:solidFill>
                  <a:schemeClr val="dk1"/>
                </a:solidFill>
              </a:rPr>
              <a:t> ‘재구매 가능 상태(Pre-Retention)’에 도달한 고객을 정의하고,</a:t>
            </a:r>
            <a:br>
              <a:rPr b="1" lang="ko" sz="1100">
                <a:solidFill>
                  <a:schemeClr val="dk1"/>
                </a:solidFill>
              </a:rPr>
            </a:br>
            <a:r>
              <a:rPr b="1" lang="ko" sz="1100">
                <a:solidFill>
                  <a:schemeClr val="dk1"/>
                </a:solidFill>
              </a:rPr>
              <a:t> 해당 상태로의 전이를 가로막는 행동 병목을 규명한다.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목표를 한 줄로 요약하면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재구매 ‘결과’가 아닌,</a:t>
            </a:r>
            <a:br>
              <a:rPr b="1" lang="ko" sz="1100">
                <a:solidFill>
                  <a:schemeClr val="dk1"/>
                </a:solidFill>
              </a:rPr>
            </a:br>
            <a:r>
              <a:rPr b="1" lang="ko" sz="1100">
                <a:solidFill>
                  <a:schemeClr val="dk1"/>
                </a:solidFill>
              </a:rPr>
              <a:t> 재구매로 이어질 ‘상태’를 데이터로 설명하는 것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3. 핵심 분석 관점 (What)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🔑 Retention을 ‘결과’가 아닌 ‘상태 변화’로 재정의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본 데이터셋에서는 재구매 고객 수가 매우 제한적이므로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**Retention 이전 단계(Pre-Retention)**를 분석의 중심으로 설정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이를 위해 RFM 프레임을 다음과 같이 재해석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구분	기존 의미	본 프로젝트 해석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Recency	최근 구매 시점	구매 이후 관계가 유지되고 있는가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Frequency	구매 빈도	구매 외 반복 행동이 발생하고 있는가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Monetary	구매 금액	제품/브랜드에 대한 신뢰 확장 의지가 있는가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ko" sz="885"/>
              <a:t>👉 RFM을 **고객 분류 도구가 아닌 ‘상태 정의 도구’**로 활용</a:t>
            </a:r>
            <a:endParaRPr sz="88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152650"/>
            <a:ext cx="8520600" cy="48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1. 현상 진단: 잊혀지는 국민 토너의 현주소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✅Market Status:</a:t>
            </a:r>
            <a:r>
              <a:rPr lang="ko" sz="889"/>
              <a:t> K-뷰티 메가 히트작에서 '무난한 선택지'로의 전락. &gt;&gt; 검색량 추이 변화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Review Sentiment (올영/무신사/화해):</a:t>
            </a:r>
            <a:r>
              <a:rPr lang="ko" sz="889"/>
              <a:t> * 리뷰 데이터 분석을 통해 본 인지도 대비 </a:t>
            </a:r>
            <a:r>
              <a:rPr b="1" lang="ko" sz="889"/>
              <a:t>구매 매력도(Attractiveness) 저하</a:t>
            </a:r>
            <a:r>
              <a:rPr lang="ko" sz="889"/>
              <a:t> 지표. &gt;&gt;</a:t>
            </a:r>
            <a:r>
              <a:rPr lang="ko" sz="889">
                <a:highlight>
                  <a:schemeClr val="accent6"/>
                </a:highlight>
              </a:rPr>
              <a:t> 물 같다? 애매하다</a:t>
            </a:r>
            <a:endParaRPr sz="889">
              <a:highlight>
                <a:schemeClr val="accent6"/>
              </a:highlight>
            </a:endParaRPr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lang="ko" sz="889"/>
              <a:t>'인생템'이라는 표현의 감소와 '가성비로 쓴다'는 응답의 증가 추이.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Internal Data (자사몰):</a:t>
            </a:r>
            <a:r>
              <a:rPr lang="ko" sz="889"/>
              <a:t> 최근 1~2년 내 신규 유입 및 재구매 주기(Retention Cycle)의 둔화 데이터 제시.</a:t>
            </a:r>
            <a:endParaRPr sz="8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2. 원인 분석: 데이터가 말하는 고객 이탈의 진실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(자사몰) 고객 이탈 경로 분석:</a:t>
            </a:r>
            <a:r>
              <a:rPr lang="ko" sz="889"/>
              <a:t> 자사몰 행동 데이터를 통해 본 </a:t>
            </a:r>
            <a:r>
              <a:rPr b="1" lang="ko" sz="889"/>
              <a:t>'장바구니 방치'</a:t>
            </a:r>
            <a:r>
              <a:rPr lang="ko" sz="889"/>
              <a:t> 및 </a:t>
            </a:r>
            <a:r>
              <a:rPr b="1" lang="ko" sz="889"/>
              <a:t>'이탈 페이지'</a:t>
            </a:r>
            <a:r>
              <a:rPr lang="ko" sz="889"/>
              <a:t> 분석 (고객이 매력을 잃는 결정적 순간 포착).</a:t>
            </a:r>
            <a:endParaRPr sz="889"/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lang="ko" sz="889"/>
              <a:t>각 단계별 이탈 분석 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(타사몰) 타 토너 제품과의 분석:</a:t>
            </a:r>
            <a:r>
              <a:rPr lang="ko" sz="889"/>
              <a:t> 올리브영 가상 데이터 활용 &gt; 전환율 낮은 구간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리뷰 텍스트 마이닝:</a:t>
            </a:r>
            <a:r>
              <a:rPr lang="ko" sz="889"/>
              <a:t> * </a:t>
            </a:r>
            <a:r>
              <a:rPr b="1" lang="ko" sz="889"/>
              <a:t>외부 채널:</a:t>
            </a:r>
            <a:r>
              <a:rPr lang="ko" sz="889"/>
              <a:t> 경쟁 브랜드(아누아, 넘버즈인 등) 언급 패턴 분석 (왜 독도에서 갈아타는가?).&gt;&gt; 독도토너 후 다른 제품 구매하는 추이</a:t>
            </a:r>
            <a:endParaRPr sz="889"/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b="1" lang="ko" sz="889"/>
              <a:t>고객 페르소나의 변화:</a:t>
            </a:r>
            <a:r>
              <a:rPr lang="ko" sz="889"/>
              <a:t> 과거 '성분 중심' 구매자에서 현재 '즉각적 효능 중심' 구매자로 이동한 시장 트렌드.</a:t>
            </a:r>
            <a:endParaRPr sz="8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3. 전략 방향: '무자극'을 넘어 '필수 베이스'로 리포지셔닝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Target Re-segmentation:</a:t>
            </a:r>
            <a:r>
              <a:rPr lang="ko" sz="889"/>
              <a:t> 데이터상 여전히 유지되는 '헤비 유저'의 사용 패턴 추출 (ex. 스킨팩, 닦토, 몸유 등에 대용량 활용). &gt;&gt; 라운드랩의 헤비 유저(=반복구매) </a:t>
            </a:r>
            <a:endParaRPr sz="889"/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lang="ko" sz="889"/>
              <a:t>무신사 데이터를 활용한 </a:t>
            </a:r>
            <a:r>
              <a:rPr b="1" lang="ko" sz="889"/>
              <a:t>'그루밍 입문자'</a:t>
            </a:r>
            <a:r>
              <a:rPr lang="ko" sz="889"/>
              <a:t> 및 </a:t>
            </a:r>
            <a:r>
              <a:rPr b="1" lang="ko" sz="889"/>
              <a:t>'미니멀리스트'</a:t>
            </a:r>
            <a:r>
              <a:rPr lang="ko" sz="889"/>
              <a:t> 신규 타겟팅</a:t>
            </a:r>
            <a:endParaRPr sz="889"/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lang="ko" sz="889"/>
              <a:t>RFM 세그먼트 활용? 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Core Value Pivot:</a:t>
            </a:r>
            <a:r>
              <a:rPr lang="ko" sz="889"/>
              <a:t> "자극 없는 토너(Nice to have)" → "고기능성 케어를 완성하는 완벽한 바탕(Must have)"으로 가치 재정의. 캠페인 리브랜딩(</a:t>
            </a:r>
            <a:r>
              <a:rPr lang="ko" sz="889"/>
              <a:t>제품주기 성숙기 이후 쇠퇴기로 향하는 상황에서 한 번 더 부흥시키고자).</a:t>
            </a:r>
            <a:r>
              <a:rPr lang="ko" sz="889"/>
              <a:t> 순한 거 찾는 집단 // 피부에 자극 없는, 트러블이 나면 기능성 //돌돌독?</a:t>
            </a:r>
            <a:endParaRPr sz="8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4. 실행 전술: 데이터 기반의 맞춤형 솔루션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2. 원인 분석 기반으로 솔루션 도출 </a:t>
            </a:r>
            <a:endParaRPr b="1"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CRM &amp; 자사몰 캠페인:</a:t>
            </a:r>
            <a:r>
              <a:rPr lang="ko" sz="889"/>
              <a:t> 자사몰 행동 데이터를 기반으로 이탈 징후 고객 대상 </a:t>
            </a:r>
            <a:r>
              <a:rPr b="1" lang="ko" sz="889"/>
              <a:t>'리마인드 개인화 쿠폰'</a:t>
            </a:r>
            <a:r>
              <a:rPr lang="ko" sz="889"/>
              <a:t> 및 </a:t>
            </a:r>
            <a:r>
              <a:rPr b="1" lang="ko" sz="889"/>
              <a:t>'대용량 구독 서비스'</a:t>
            </a:r>
            <a:r>
              <a:rPr lang="ko" sz="889"/>
              <a:t> 제안.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채널별 콘텐츠 전략:</a:t>
            </a:r>
            <a:r>
              <a:rPr lang="ko" sz="889"/>
              <a:t> * </a:t>
            </a:r>
            <a:r>
              <a:rPr b="1" lang="ko" sz="889"/>
              <a:t>올리브영:</a:t>
            </a:r>
            <a:r>
              <a:rPr lang="ko" sz="889"/>
              <a:t> 리뷰 데이터에서 도출된 '결 개선/진정' 키워드를 전면에 내세운 기획 세트 구성.</a:t>
            </a:r>
            <a:endParaRPr sz="8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5. 기대 효과 및 성과 관리 (KPI)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목표 수치:</a:t>
            </a:r>
            <a:r>
              <a:rPr lang="ko" sz="889"/>
              <a:t> 재구매율 $X\%$ 반등, 자사몰 평균 주문 금액(AOV) 상승.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Final Message:</a:t>
            </a:r>
            <a:r>
              <a:rPr lang="ko" sz="889"/>
              <a:t> 독도토너의 브랜드 헤리티지(Classic)를 현대적 감각(Essential)으로 재해석한 성과 기대.</a:t>
            </a:r>
            <a:endParaRPr sz="88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셋 설명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1682700" y="1792125"/>
            <a:ext cx="577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현상 진단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잊혀지는 국민 토너의 현주소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25" y="934800"/>
            <a:ext cx="8432751" cy="34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>
            <p:ph type="title"/>
          </p:nvPr>
        </p:nvSpPr>
        <p:spPr>
          <a:xfrm>
            <a:off x="1682700" y="244300"/>
            <a:ext cx="577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라운드랩 vs 독도 토너</a:t>
            </a:r>
            <a:endParaRPr/>
          </a:p>
        </p:txBody>
      </p:sp>
      <p:sp>
        <p:nvSpPr>
          <p:cNvPr id="95" name="Google Shape;95;p20"/>
          <p:cNvSpPr/>
          <p:nvPr/>
        </p:nvSpPr>
        <p:spPr>
          <a:xfrm>
            <a:off x="5766175" y="2282675"/>
            <a:ext cx="2944800" cy="201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/>
        </p:nvSpPr>
        <p:spPr>
          <a:xfrm>
            <a:off x="5766175" y="1884250"/>
            <a:ext cx="24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2"/>
                </a:solidFill>
              </a:rPr>
              <a:t>독도 토너의 브랜드 견인은 끝났다.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97" name="Google Shape;97;p20"/>
          <p:cNvCxnSpPr/>
          <p:nvPr/>
        </p:nvCxnSpPr>
        <p:spPr>
          <a:xfrm rot="10800000">
            <a:off x="1084625" y="1778500"/>
            <a:ext cx="0" cy="21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20"/>
          <p:cNvSpPr txBox="1"/>
          <p:nvPr/>
        </p:nvSpPr>
        <p:spPr>
          <a:xfrm>
            <a:off x="960100" y="1328350"/>
            <a:ext cx="226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2"/>
                </a:solidFill>
              </a:rPr>
              <a:t>브랜드 론칭 초기</a:t>
            </a:r>
            <a:r>
              <a:rPr lang="ko" sz="900">
                <a:solidFill>
                  <a:schemeClr val="dk2"/>
                </a:solidFill>
              </a:rPr>
              <a:t>부터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독도 토너의 인지도가 높다. → 브랜드 견인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87975" y="4770225"/>
            <a:ext cx="3113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97058"/>
              <a:buNone/>
            </a:pPr>
            <a:r>
              <a:rPr lang="ko" sz="1020"/>
              <a:t>출처 : </a:t>
            </a:r>
            <a:r>
              <a:rPr lang="ko" sz="1020"/>
              <a:t>네이버 API | 검색량 | 2017.01.01 - 2025.11.14</a:t>
            </a:r>
            <a:endParaRPr sz="10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1682700" y="1792125"/>
            <a:ext cx="577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원인 분석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데이터가 말하는 고객 이탈의 진실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Activation (봤는데 왜 ‘괜찮다’까지 못 가는가)</a:t>
            </a:r>
            <a:endParaRPr/>
          </a:p>
        </p:txBody>
      </p:sp>
      <p:graphicFrame>
        <p:nvGraphicFramePr>
          <p:cNvPr id="110" name="Google Shape;110;p22"/>
          <p:cNvGraphicFramePr/>
          <p:nvPr/>
        </p:nvGraphicFramePr>
        <p:xfrm>
          <a:off x="311700" y="111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{D35D8711-F516-42FA-B9DC-EAEC604DAB33}</a:tableStyleId>
              </a:tblPr>
              <a:tblGrid>
                <a:gridCol w="1206775"/>
                <a:gridCol w="1511500"/>
                <a:gridCol w="1523700"/>
                <a:gridCol w="25598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목적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봐야 할 데이터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포인트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질문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제품 이해 여부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상세페이지 스크롤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25/50/75% 도달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“정보를 어디까지 소비하는가?”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의심 구간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FAQ/성분 영역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체류/이탈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“어디서 불안해지는가?”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장바구니 진입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행동 로그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view → cart 전환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“이해는 했는데 왜 안 담는가?”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22"/>
          <p:cNvSpPr txBox="1"/>
          <p:nvPr/>
        </p:nvSpPr>
        <p:spPr>
          <a:xfrm>
            <a:off x="255550" y="3415075"/>
            <a:ext cx="43164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👉 </a:t>
            </a:r>
            <a:r>
              <a:rPr b="1" lang="ko" sz="1100">
                <a:solidFill>
                  <a:schemeClr val="dk1"/>
                </a:solidFill>
              </a:rPr>
              <a:t>여기서 핵심 병목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✔️ </a:t>
            </a:r>
            <a:r>
              <a:rPr b="1" lang="ko" sz="1100">
                <a:solidFill>
                  <a:schemeClr val="dk1"/>
                </a:solidFill>
              </a:rPr>
              <a:t>스크롤은 깊은데 장바구니 안 담음</a:t>
            </a:r>
            <a:br>
              <a:rPr b="1" lang="ko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→ </a:t>
            </a:r>
            <a:r>
              <a:rPr i="1" lang="ko" sz="1100">
                <a:solidFill>
                  <a:schemeClr val="dk1"/>
                </a:solidFill>
              </a:rPr>
              <a:t>이해는 했지만 ‘지금 사야 할 이유’가 없음</a:t>
            </a:r>
            <a:endParaRPr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스크롤 구간별 도달률</a:t>
            </a:r>
            <a:endParaRPr sz="2000"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000" y="914975"/>
            <a:ext cx="4951177" cy="2682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23"/>
          <p:cNvGraphicFramePr/>
          <p:nvPr/>
        </p:nvGraphicFramePr>
        <p:xfrm>
          <a:off x="5348625" y="10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{D35D8711-F516-42FA-B9DC-EAEC604DAB33}</a:tableStyleId>
              </a:tblPr>
              <a:tblGrid>
                <a:gridCol w="815075"/>
                <a:gridCol w="610975"/>
                <a:gridCol w="713025"/>
                <a:gridCol w="713025"/>
                <a:gridCol w="713025"/>
              </a:tblGrid>
              <a:tr h="2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index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view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wishlist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cart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purchase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0~25%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40.84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40.14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40.94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39.89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25~50%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29.03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29.59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30.06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33.88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50~75%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14.87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14.29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14.71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14.21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75~90%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9.78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12.24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10.87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8.2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90~100%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5.49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3.74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3.41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3.83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23"/>
          <p:cNvSpPr txBox="1"/>
          <p:nvPr/>
        </p:nvSpPr>
        <p:spPr>
          <a:xfrm>
            <a:off x="383650" y="4118050"/>
            <a:ext cx="714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- </a:t>
            </a:r>
            <a:r>
              <a:rPr lang="ko" sz="1100">
                <a:solidFill>
                  <a:schemeClr val="dk2"/>
                </a:solidFill>
              </a:rPr>
              <a:t>구매는 중반부(25~50%)에서 설들 된 사람에게 가장 많이 발생한다. → 상세페이지에서 아하 모먼트는 25~50%에 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- 후반부(75~90%)는 위시리스트 비율이 높다 → 구매 고민, 구매 보류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Revenue (왜 ‘독도토너에서 끝나는가’)</a:t>
            </a:r>
            <a:endParaRPr/>
          </a:p>
        </p:txBody>
      </p:sp>
      <p:graphicFrame>
        <p:nvGraphicFramePr>
          <p:cNvPr id="125" name="Google Shape;125;p24"/>
          <p:cNvGraphicFramePr/>
          <p:nvPr/>
        </p:nvGraphicFramePr>
        <p:xfrm>
          <a:off x="256950" y="159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{D35D8711-F516-42FA-B9DC-EAEC604DAB33}</a:tableStyleId>
              </a:tblPr>
              <a:tblGrid>
                <a:gridCol w="1159725"/>
                <a:gridCol w="1435150"/>
                <a:gridCol w="1435150"/>
                <a:gridCol w="311675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목적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봐야 할 데이터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포인트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질문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확장 실패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구매 데이터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단일 구매 비중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“왜 라인 확장이 안 되는가?”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비교 탐색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행동 로그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타 제품 조회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“대체재를 동시에 보고 있는가?”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타사몰 전환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올리브영 가상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토너 전환 구간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“가격/효능에서 밀리는가?”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4"/>
          <p:cNvSpPr txBox="1"/>
          <p:nvPr/>
        </p:nvSpPr>
        <p:spPr>
          <a:xfrm>
            <a:off x="162625" y="3449900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👉 여기서 </a:t>
            </a:r>
            <a:r>
              <a:rPr b="1" lang="ko" sz="1100">
                <a:solidFill>
                  <a:schemeClr val="dk1"/>
                </a:solidFill>
              </a:rPr>
              <a:t>아주 중요한 인사이트 축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‘순함/성분’ → ‘즉각적 효능’으로 이동한 시장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Retention (초입) – 왜 다시 돌아오지 않는가</a:t>
            </a:r>
            <a:endParaRPr/>
          </a:p>
        </p:txBody>
      </p:sp>
      <p:graphicFrame>
        <p:nvGraphicFramePr>
          <p:cNvPr id="132" name="Google Shape;132;p25"/>
          <p:cNvGraphicFramePr/>
          <p:nvPr/>
        </p:nvGraphicFramePr>
        <p:xfrm>
          <a:off x="311700" y="192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{D35D8711-F516-42FA-B9DC-EAEC604DAB33}</a:tableStyleId>
              </a:tblPr>
              <a:tblGrid>
                <a:gridCol w="1152675"/>
                <a:gridCol w="1426425"/>
                <a:gridCol w="1599325"/>
                <a:gridCol w="28816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목적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봐야 할 데이터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포인트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질문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관계 지속성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Recency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재방문 여부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“아직 관계가 살아 있는가?”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루틴 신호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Frequency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재조회/재스크롤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“다시 고민할 만큼 남았는가?”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이탈 시점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이탈 페이지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마지막 페이지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“어디서 완전히 떠나는가?”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3" name="Google Shape;133;p25"/>
          <p:cNvSpPr txBox="1"/>
          <p:nvPr/>
        </p:nvSpPr>
        <p:spPr>
          <a:xfrm>
            <a:off x="453025" y="3833225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👉 </a:t>
            </a:r>
            <a:r>
              <a:rPr b="1" lang="ko" sz="1100">
                <a:solidFill>
                  <a:schemeClr val="dk1"/>
                </a:solidFill>
              </a:rPr>
              <a:t>Retention 병목 정의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“제품은 나쁘지 않지만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다시 찾아야 할 이유가 없다</a:t>
            </a:r>
            <a:r>
              <a:rPr lang="ko" sz="1100">
                <a:solidFill>
                  <a:schemeClr val="dk1"/>
                </a:solidFill>
              </a:rPr>
              <a:t>”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1682700" y="1792125"/>
            <a:ext cx="681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전략 방향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'무자극'을 넘어 '필수 베이스'로 리포지셔닝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1682700" y="1792125"/>
            <a:ext cx="681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실행 전술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기반의 맞춤형 솔루션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고객상태 변화는 무엇인가?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8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퍼널 &gt; 유입, 장바구니담기, 구매, 재구매, 행동기반,3회 이상(카테고리 확장)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첫 구매고객을 토너 인식으로 이동시킬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유입이 되었다면, 광고를 타고 들어왔을 때 들어오자마자 스크롤 50%내리고 바로 나간다. 활성화.. 검색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리뷰에서 얻은 긍정 키워드로 crm 메시지 // 한 용도밖에 못 쓰네? 했을 때 용도법을 준다, 아하모먼트를 부여하기도 하고 .. 순하다는 느낌을 준다거나, 리포지셔닝이 필요하다. 1020 입문용 토너였다면, 피부 휴식이 필요하다, 어떤 제품과도 잘 어울리는 완벽한 베이스..</a:t>
            </a:r>
            <a:br>
              <a:rPr lang="ko"/>
            </a:br>
            <a:r>
              <a:rPr lang="ko"/>
              <a:t>물같은 토너 &gt;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