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286000"/>
            <a:ext cx="9144000" cy="1828800"/>
          </a:xfrm>
          <a:prstGeom prst="rect">
            <a:avLst/>
          </a:prstGeom>
          <a:solidFill>
            <a:srgbClr val="1A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46888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토너 리뷰 감성분석 리포트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004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>
                <a:solidFill>
                  <a:srgbClr val="FFFFFF"/>
                </a:solidFill>
              </a:defRPr>
            </a:pPr>
            <a:r>
              <a:t>7개 브랜드 33,908건 GPT-4o 기반 분석 | 2026.01.29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560320"/>
            <a:ext cx="9144000" cy="137160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Executive Summary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A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분석 개요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A365D"/>
                </a:solidFill>
              </a:defRPr>
            </a:pPr>
            <a:r>
              <a:t>▶ 분석 대상: 7개 토너 브랜드, 총 33,908건 리뷰</a:t>
            </a:r>
          </a:p>
          <a:p>
            <a:pPr>
              <a:spcAft>
                <a:spcPts val="800"/>
              </a:spcAft>
              <a:defRPr sz="1600">
                <a:solidFill>
                  <a:srgbClr val="1A365D"/>
                </a:solidFill>
              </a:defRPr>
            </a:pPr>
            <a:r>
              <a:t>▶ 분석 기간: 2025.02 ~ 2026.01 (12개월)</a:t>
            </a:r>
          </a:p>
          <a:p>
            <a:pPr>
              <a:spcAft>
                <a:spcPts val="800"/>
              </a:spcAft>
              <a:defRPr sz="1600">
                <a:solidFill>
                  <a:srgbClr val="1A365D"/>
                </a:solidFill>
              </a:defRPr>
            </a:pPr>
            <a:r>
              <a:t>▶ 플랫폼: 올리브영 27,745건 (82%) / 무신사 6,163건 (18%)</a:t>
            </a:r>
          </a:p>
          <a:p>
            <a:pPr>
              <a:spcAft>
                <a:spcPts val="800"/>
              </a:spcAft>
              <a:defRPr sz="1600">
                <a:solidFill>
                  <a:srgbClr val="1A365D"/>
                </a:solidFill>
              </a:defRPr>
            </a:pPr>
          </a:p>
          <a:p>
            <a:pPr>
              <a:spcAft>
                <a:spcPts val="800"/>
              </a:spcAft>
              <a:defRPr sz="1600" b="1">
                <a:solidFill>
                  <a:srgbClr val="4A90D9"/>
                </a:solidFill>
              </a:defRPr>
            </a:pPr>
            <a:r>
              <a:t>▶ 전체 긍정률: 90.8% (부정률 2.0%)</a:t>
            </a:r>
          </a:p>
          <a:p>
            <a:pPr>
              <a:spcAft>
                <a:spcPts val="800"/>
              </a:spcAft>
              <a:defRPr sz="1600" b="1">
                <a:solidFill>
                  <a:srgbClr val="4A90D9"/>
                </a:solidFill>
              </a:defRPr>
            </a:pPr>
            <a:r>
              <a:t>▶ 긍정률 1위: 토니모리 (93.5%)</a:t>
            </a:r>
          </a:p>
          <a:p>
            <a:pPr>
              <a:spcAft>
                <a:spcPts val="800"/>
              </a:spcAft>
              <a:defRPr sz="1600" b="1">
                <a:solidFill>
                  <a:srgbClr val="4A90D9"/>
                </a:solidFill>
              </a:defRPr>
            </a:pPr>
            <a:r>
              <a:t>▶ 가장 많은 Pain Point: 건조함 (134건)</a:t>
            </a:r>
          </a:p>
          <a:p>
            <a:pPr>
              <a:spcAft>
                <a:spcPts val="800"/>
              </a:spcAft>
              <a:defRPr sz="1600" b="1">
                <a:solidFill>
                  <a:srgbClr val="4A90D9"/>
                </a:solidFill>
              </a:defRPr>
            </a:pPr>
            <a:r>
              <a:t>▶ 가장 많은 Positive Point: 촉촉함 (3,312건)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560320"/>
            <a:ext cx="9144000" cy="137160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브랜드별 포지셔닝 분석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A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브랜드별 감성 분포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1097280"/>
          <a:ext cx="859536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2148840"/>
                <a:gridCol w="2148840"/>
                <a:gridCol w="2148840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브랜드</a:t>
                      </a:r>
                    </a:p>
                  </a:txBody>
                  <a:tcPr>
                    <a:solidFill>
                      <a:srgbClr val="1A365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리뷰 수</a:t>
                      </a:r>
                    </a:p>
                  </a:txBody>
                  <a:tcPr>
                    <a:solidFill>
                      <a:srgbClr val="1A365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긍정률</a:t>
                      </a:r>
                    </a:p>
                  </a:txBody>
                  <a:tcPr>
                    <a:solidFill>
                      <a:srgbClr val="1A365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부정률</a:t>
                      </a:r>
                    </a:p>
                  </a:txBody>
                  <a:tcPr>
                    <a:solidFill>
                      <a:srgbClr val="1A365D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A365D"/>
                          </a:solidFill>
                        </a:defRPr>
                      </a:pPr>
                      <a:r>
                        <a:t>토리든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365D"/>
                          </a:solidFill>
                        </a:defRPr>
                      </a:pPr>
                      <a:r>
                        <a:t>10,327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365D"/>
                          </a:solidFill>
                        </a:defRPr>
                      </a:pPr>
                      <a:r>
                        <a:t>91.3%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365D"/>
                          </a:solidFill>
                        </a:defRPr>
                      </a:pPr>
                      <a:r>
                        <a:t>1.9%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A365D"/>
                          </a:solidFill>
                        </a:defRPr>
                      </a:pPr>
                      <a:r>
                        <a:t>브링그린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365D"/>
                          </a:solidFill>
                        </a:defRPr>
                      </a:pPr>
                      <a:r>
                        <a:t>6,312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365D"/>
                          </a:solidFill>
                        </a:defRPr>
                      </a:pPr>
                      <a:r>
                        <a:t>88.0%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365D"/>
                          </a:solidFill>
                        </a:defRPr>
                      </a:pPr>
                      <a:r>
                        <a:t>2.8%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A365D"/>
                          </a:solidFill>
                        </a:defRPr>
                      </a:pPr>
                      <a:r>
                        <a:t>독도토너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365D"/>
                          </a:solidFill>
                        </a:defRPr>
                      </a:pPr>
                      <a:r>
                        <a:t>4,174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365D"/>
                          </a:solidFill>
                        </a:defRPr>
                      </a:pPr>
                      <a:r>
                        <a:t>91.7%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365D"/>
                          </a:solidFill>
                        </a:defRPr>
                      </a:pPr>
                      <a:r>
                        <a:t>1.5%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A365D"/>
                          </a:solidFill>
                        </a:defRPr>
                      </a:pPr>
                      <a:r>
                        <a:t>에스네이처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365D"/>
                          </a:solidFill>
                        </a:defRPr>
                      </a:pPr>
                      <a:r>
                        <a:t>3,682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365D"/>
                          </a:solidFill>
                        </a:defRPr>
                      </a:pPr>
                      <a:r>
                        <a:t>92.6%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365D"/>
                          </a:solidFill>
                        </a:defRPr>
                      </a:pPr>
                      <a:r>
                        <a:t>1.3%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A365D"/>
                          </a:solidFill>
                        </a:defRPr>
                      </a:pPr>
                      <a:r>
                        <a:t>아누아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365D"/>
                          </a:solidFill>
                        </a:defRPr>
                      </a:pPr>
                      <a:r>
                        <a:t>3,544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365D"/>
                          </a:solidFill>
                        </a:defRPr>
                      </a:pPr>
                      <a:r>
                        <a:t>88.9%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365D"/>
                          </a:solidFill>
                        </a:defRPr>
                      </a:pPr>
                      <a:r>
                        <a:t>2.6%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A365D"/>
                          </a:solidFill>
                        </a:defRPr>
                      </a:pPr>
                      <a:r>
                        <a:t>토니모리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365D"/>
                          </a:solidFill>
                        </a:defRPr>
                      </a:pPr>
                      <a:r>
                        <a:t>3,077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365D"/>
                          </a:solidFill>
                        </a:defRPr>
                      </a:pPr>
                      <a:r>
                        <a:t>93.5%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365D"/>
                          </a:solidFill>
                        </a:defRPr>
                      </a:pPr>
                      <a:r>
                        <a:t>1.5%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A365D"/>
                          </a:solidFill>
                        </a:defRPr>
                      </a:pPr>
                      <a:r>
                        <a:t>아비브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365D"/>
                          </a:solidFill>
                        </a:defRPr>
                      </a:pPr>
                      <a:r>
                        <a:t>2,792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365D"/>
                          </a:solidFill>
                        </a:defRPr>
                      </a:pPr>
                      <a:r>
                        <a:t>90.8%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365D"/>
                          </a:solidFill>
                        </a:defRPr>
                      </a:pPr>
                      <a:r>
                        <a:t>2.0%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A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브랜드 포지셔닝 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A365D"/>
                </a:solidFill>
              </a:defRPr>
            </a:pPr>
            <a:r>
              <a:t>[ 보습 중심 ]                              [ 진정 중심 ]</a:t>
            </a:r>
          </a:p>
          <a:p>
            <a:pPr>
              <a:spcAft>
                <a:spcPts val="800"/>
              </a:spcAft>
              <a:defRPr sz="1600">
                <a:solidFill>
                  <a:srgbClr val="1A365D"/>
                </a:solidFill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1A365D"/>
                </a:solidFill>
              </a:defRPr>
            </a:pPr>
            <a:r>
              <a:t>  토니모리 (보습 80.7%)          브링그린 (진정 59.7%)</a:t>
            </a:r>
          </a:p>
          <a:p>
            <a:pPr>
              <a:spcAft>
                <a:spcPts val="800"/>
              </a:spcAft>
              <a:defRPr sz="1600">
                <a:solidFill>
                  <a:srgbClr val="1A365D"/>
                </a:solidFill>
              </a:defRPr>
            </a:pPr>
            <a:r>
              <a:t>  에스네이처 (보습 73.4%)        아비브 (진정 61.3%)</a:t>
            </a:r>
          </a:p>
          <a:p>
            <a:pPr>
              <a:spcAft>
                <a:spcPts val="800"/>
              </a:spcAft>
              <a:defRPr sz="1600">
                <a:solidFill>
                  <a:srgbClr val="1A365D"/>
                </a:solidFill>
              </a:defRPr>
            </a:pPr>
            <a:r>
              <a:t>  토리든 (보습 70.3%)            아누아 (진정 57.3%)</a:t>
            </a:r>
          </a:p>
          <a:p>
            <a:pPr>
              <a:spcAft>
                <a:spcPts val="800"/>
              </a:spcAft>
              <a:defRPr sz="1600">
                <a:solidFill>
                  <a:srgbClr val="1A365D"/>
                </a:solidFill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1A365D"/>
                </a:solidFill>
              </a:defRPr>
            </a:pPr>
            <a:r>
              <a:t>                    독도토너 (보습 54.9% / 진정 52.5%)</a:t>
            </a:r>
          </a:p>
          <a:p>
            <a:pPr>
              <a:spcAft>
                <a:spcPts val="800"/>
              </a:spcAft>
              <a:defRPr sz="1600">
                <a:solidFill>
                  <a:srgbClr val="1A365D"/>
                </a:solidFill>
              </a:defRPr>
            </a:pPr>
            <a:r>
              <a:t>                         ↑ 균형형 포지셔닝</a:t>
            </a:r>
          </a:p>
          <a:p>
            <a:pPr>
              <a:spcAft>
                <a:spcPts val="800"/>
              </a:spcAft>
              <a:defRPr sz="1600">
                <a:solidFill>
                  <a:srgbClr val="1A365D"/>
                </a:solidFill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1A365D"/>
                </a:solidFill>
              </a:defRPr>
            </a:pPr>
            <a:r>
              <a:t>━━━━━━━━━━━━━━━━━━━━━━━━━━━━━━━━━━━━━━━━━━━━━━━━━━━━━</a:t>
            </a:r>
          </a:p>
          <a:p>
            <a:pPr>
              <a:spcAft>
                <a:spcPts val="800"/>
              </a:spcAft>
              <a:defRPr sz="1600">
                <a:solidFill>
                  <a:srgbClr val="1A365D"/>
                </a:solidFill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1A365D"/>
                </a:solidFill>
              </a:defRPr>
            </a:pPr>
            <a:r>
              <a:t>[ 가성비 리더 ]                          [ 프리미엄 이미지 ]</a:t>
            </a:r>
          </a:p>
          <a:p>
            <a:pPr>
              <a:spcAft>
                <a:spcPts val="800"/>
              </a:spcAft>
              <a:defRPr sz="1600">
                <a:solidFill>
                  <a:srgbClr val="1A365D"/>
                </a:solidFill>
              </a:defRPr>
            </a:pPr>
            <a:r>
              <a:t>  토니모리 (가성비 39.3%)        아누아 (인생템 60.3%)</a:t>
            </a:r>
          </a:p>
          <a:p>
            <a:pPr>
              <a:spcAft>
                <a:spcPts val="800"/>
              </a:spcAft>
              <a:defRPr sz="1600">
                <a:solidFill>
                  <a:srgbClr val="1A365D"/>
                </a:solidFill>
              </a:defRPr>
            </a:pPr>
            <a:r>
              <a:t>  브링그린 (가성비 21.8%)        아비브 (인생템 59.3%)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560320"/>
            <a:ext cx="9144000" cy="137160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브랜드별 강점 &amp; 약점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A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토리든 강점 &amp; 약점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A365D"/>
                </a:solidFill>
              </a:defRPr>
            </a:pPr>
            <a:r>
              <a:t>◆ TOP 3 긍정 포인트</a:t>
            </a:r>
          </a:p>
          <a:p>
            <a:pPr>
              <a:spcAft>
                <a:spcPts val="800"/>
              </a:spcAft>
              <a:defRPr sz="1600" b="1">
                <a:solidFill>
                  <a:srgbClr val="4A90D9"/>
                </a:solidFill>
              </a:defRPr>
            </a:pPr>
            <a:r>
              <a:t>   1. 촉촉함 (1,223)</a:t>
            </a:r>
          </a:p>
          <a:p>
            <a:pPr>
              <a:spcAft>
                <a:spcPts val="800"/>
              </a:spcAft>
              <a:defRPr sz="1600">
                <a:solidFill>
                  <a:srgbClr val="1A365D"/>
                </a:solidFill>
              </a:defRPr>
            </a:pPr>
            <a:r>
              <a:t>   2. 순함 (669)</a:t>
            </a:r>
          </a:p>
          <a:p>
            <a:pPr>
              <a:spcAft>
                <a:spcPts val="800"/>
              </a:spcAft>
              <a:defRPr sz="1600">
                <a:solidFill>
                  <a:srgbClr val="1A365D"/>
                </a:solidFill>
              </a:defRPr>
            </a:pPr>
            <a:r>
              <a:t>   3. 재구매 의사 (426)</a:t>
            </a:r>
          </a:p>
          <a:p>
            <a:pPr>
              <a:spcAft>
                <a:spcPts val="800"/>
              </a:spcAft>
              <a:defRPr sz="1600">
                <a:solidFill>
                  <a:srgbClr val="1A365D"/>
                </a:solidFill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1A365D"/>
                </a:solidFill>
              </a:defRPr>
            </a:pPr>
            <a:r>
              <a:t>◆ TOP 3 불만 포인트</a:t>
            </a:r>
          </a:p>
          <a:p>
            <a:pPr>
              <a:spcAft>
                <a:spcPts val="800"/>
              </a:spcAft>
              <a:defRPr sz="1600" b="1">
                <a:solidFill>
                  <a:srgbClr val="4A90D9"/>
                </a:solidFill>
              </a:defRPr>
            </a:pPr>
            <a:r>
              <a:t>   1. 건조함 (48)</a:t>
            </a:r>
          </a:p>
          <a:p>
            <a:pPr>
              <a:spcAft>
                <a:spcPts val="800"/>
              </a:spcAft>
              <a:defRPr sz="1600">
                <a:solidFill>
                  <a:srgbClr val="1A365D"/>
                </a:solidFill>
              </a:defRPr>
            </a:pPr>
            <a:r>
              <a:t>   2. 속건조 (17)</a:t>
            </a:r>
          </a:p>
          <a:p>
            <a:pPr>
              <a:spcAft>
                <a:spcPts val="800"/>
              </a:spcAft>
              <a:defRPr sz="1600">
                <a:solidFill>
                  <a:srgbClr val="1A365D"/>
                </a:solidFill>
              </a:defRPr>
            </a:pPr>
            <a:r>
              <a:t>   3. 재구매 의사 없음 (16)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A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브링그린 강점 &amp; 약점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A365D"/>
                </a:solidFill>
              </a:defRPr>
            </a:pPr>
            <a:r>
              <a:t>◆ TOP 3 긍정 포인트</a:t>
            </a:r>
          </a:p>
          <a:p>
            <a:pPr>
              <a:spcAft>
                <a:spcPts val="800"/>
              </a:spcAft>
              <a:defRPr sz="1600" b="1">
                <a:solidFill>
                  <a:srgbClr val="4A90D9"/>
                </a:solidFill>
              </a:defRPr>
            </a:pPr>
            <a:r>
              <a:t>   1. 진정 효과 (441)</a:t>
            </a:r>
          </a:p>
          <a:p>
            <a:pPr>
              <a:spcAft>
                <a:spcPts val="800"/>
              </a:spcAft>
              <a:defRPr sz="1600">
                <a:solidFill>
                  <a:srgbClr val="1A365D"/>
                </a:solidFill>
              </a:defRPr>
            </a:pPr>
            <a:r>
              <a:t>   2. 재구매 의사 (300)</a:t>
            </a:r>
          </a:p>
          <a:p>
            <a:pPr>
              <a:spcAft>
                <a:spcPts val="800"/>
              </a:spcAft>
              <a:defRPr sz="1600">
                <a:solidFill>
                  <a:srgbClr val="1A365D"/>
                </a:solidFill>
              </a:defRPr>
            </a:pPr>
            <a:r>
              <a:t>   3. 촉촉함 (274)</a:t>
            </a:r>
          </a:p>
          <a:p>
            <a:pPr>
              <a:spcAft>
                <a:spcPts val="800"/>
              </a:spcAft>
              <a:defRPr sz="1600">
                <a:solidFill>
                  <a:srgbClr val="1A365D"/>
                </a:solidFill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1A365D"/>
                </a:solidFill>
              </a:defRPr>
            </a:pPr>
            <a:r>
              <a:t>◆ TOP 3 불만 포인트</a:t>
            </a:r>
          </a:p>
          <a:p>
            <a:pPr>
              <a:spcAft>
                <a:spcPts val="800"/>
              </a:spcAft>
              <a:defRPr sz="1600" b="1">
                <a:solidFill>
                  <a:srgbClr val="4A90D9"/>
                </a:solidFill>
              </a:defRPr>
            </a:pPr>
            <a:r>
              <a:t>   1. 자극 (48)</a:t>
            </a:r>
          </a:p>
          <a:p>
            <a:pPr>
              <a:spcAft>
                <a:spcPts val="800"/>
              </a:spcAft>
              <a:defRPr sz="1600">
                <a:solidFill>
                  <a:srgbClr val="1A365D"/>
                </a:solidFill>
              </a:defRPr>
            </a:pPr>
            <a:r>
              <a:t>   2. 건조함 (37)</a:t>
            </a:r>
          </a:p>
          <a:p>
            <a:pPr>
              <a:spcAft>
                <a:spcPts val="800"/>
              </a:spcAft>
              <a:defRPr sz="1600">
                <a:solidFill>
                  <a:srgbClr val="1A365D"/>
                </a:solidFill>
              </a:defRPr>
            </a:pPr>
            <a:r>
              <a:t>   3. 눈에 들어가면 따가움 (27)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A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독도토너 강점 &amp; 약점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A365D"/>
                </a:solidFill>
              </a:defRPr>
            </a:pPr>
            <a:r>
              <a:t>◆ TOP 3 긍정 포인트</a:t>
            </a:r>
          </a:p>
          <a:p>
            <a:pPr>
              <a:spcAft>
                <a:spcPts val="800"/>
              </a:spcAft>
              <a:defRPr sz="1600" b="1">
                <a:solidFill>
                  <a:srgbClr val="4A90D9"/>
                </a:solidFill>
              </a:defRPr>
            </a:pPr>
            <a:r>
              <a:t>   1. 순함 (381)</a:t>
            </a:r>
          </a:p>
          <a:p>
            <a:pPr>
              <a:spcAft>
                <a:spcPts val="800"/>
              </a:spcAft>
              <a:defRPr sz="1600">
                <a:solidFill>
                  <a:srgbClr val="1A365D"/>
                </a:solidFill>
              </a:defRPr>
            </a:pPr>
            <a:r>
              <a:t>   2. 촉촉함 (331)</a:t>
            </a:r>
          </a:p>
          <a:p>
            <a:pPr>
              <a:spcAft>
                <a:spcPts val="800"/>
              </a:spcAft>
              <a:defRPr sz="1600">
                <a:solidFill>
                  <a:srgbClr val="1A365D"/>
                </a:solidFill>
              </a:defRPr>
            </a:pPr>
            <a:r>
              <a:t>   3. 순하다 (205)</a:t>
            </a:r>
          </a:p>
          <a:p>
            <a:pPr>
              <a:spcAft>
                <a:spcPts val="800"/>
              </a:spcAft>
              <a:defRPr sz="1600">
                <a:solidFill>
                  <a:srgbClr val="1A365D"/>
                </a:solidFill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1A365D"/>
                </a:solidFill>
              </a:defRPr>
            </a:pPr>
            <a:r>
              <a:t>◆ TOP 3 불만 포인트</a:t>
            </a:r>
          </a:p>
          <a:p>
            <a:pPr>
              <a:spcAft>
                <a:spcPts val="800"/>
              </a:spcAft>
              <a:defRPr sz="1600" b="1">
                <a:solidFill>
                  <a:srgbClr val="4A90D9"/>
                </a:solidFill>
              </a:defRPr>
            </a:pPr>
            <a:r>
              <a:t>   1. 건조함 (14)</a:t>
            </a:r>
          </a:p>
          <a:p>
            <a:pPr>
              <a:spcAft>
                <a:spcPts val="800"/>
              </a:spcAft>
              <a:defRPr sz="1600">
                <a:solidFill>
                  <a:srgbClr val="1A365D"/>
                </a:solidFill>
              </a:defRPr>
            </a:pPr>
            <a:r>
              <a:t>   2. 수분감 부족 (9)</a:t>
            </a:r>
          </a:p>
          <a:p>
            <a:pPr>
              <a:spcAft>
                <a:spcPts val="800"/>
              </a:spcAft>
              <a:defRPr sz="1600">
                <a:solidFill>
                  <a:srgbClr val="1A365D"/>
                </a:solidFill>
              </a:defRPr>
            </a:pPr>
            <a:r>
              <a:t>   3. 보습 부족 (6)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A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에스네이처 강점 &amp; 약점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A365D"/>
                </a:solidFill>
              </a:defRPr>
            </a:pPr>
            <a:r>
              <a:t>◆ TOP 3 긍정 포인트</a:t>
            </a:r>
          </a:p>
          <a:p>
            <a:pPr>
              <a:spcAft>
                <a:spcPts val="800"/>
              </a:spcAft>
              <a:defRPr sz="1600" b="1">
                <a:solidFill>
                  <a:srgbClr val="4A90D9"/>
                </a:solidFill>
              </a:defRPr>
            </a:pPr>
            <a:r>
              <a:t>   1. 촉촉함 (519)</a:t>
            </a:r>
          </a:p>
          <a:p>
            <a:pPr>
              <a:spcAft>
                <a:spcPts val="800"/>
              </a:spcAft>
              <a:defRPr sz="1600">
                <a:solidFill>
                  <a:srgbClr val="1A365D"/>
                </a:solidFill>
              </a:defRPr>
            </a:pPr>
            <a:r>
              <a:t>   2. 순함 (215)</a:t>
            </a:r>
          </a:p>
          <a:p>
            <a:pPr>
              <a:spcAft>
                <a:spcPts val="800"/>
              </a:spcAft>
              <a:defRPr sz="1600">
                <a:solidFill>
                  <a:srgbClr val="1A365D"/>
                </a:solidFill>
              </a:defRPr>
            </a:pPr>
            <a:r>
              <a:t>   3. 재구매 의사 (163)</a:t>
            </a:r>
          </a:p>
          <a:p>
            <a:pPr>
              <a:spcAft>
                <a:spcPts val="800"/>
              </a:spcAft>
              <a:defRPr sz="1600">
                <a:solidFill>
                  <a:srgbClr val="1A365D"/>
                </a:solidFill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1A365D"/>
                </a:solidFill>
              </a:defRPr>
            </a:pPr>
            <a:r>
              <a:t>◆ TOP 3 불만 포인트</a:t>
            </a:r>
          </a:p>
          <a:p>
            <a:pPr>
              <a:spcAft>
                <a:spcPts val="800"/>
              </a:spcAft>
              <a:defRPr sz="1600" b="1">
                <a:solidFill>
                  <a:srgbClr val="4A90D9"/>
                </a:solidFill>
              </a:defRPr>
            </a:pPr>
            <a:r>
              <a:t>   1. 눈에 들어가면 따가움 (13)</a:t>
            </a:r>
          </a:p>
          <a:p>
            <a:pPr>
              <a:spcAft>
                <a:spcPts val="800"/>
              </a:spcAft>
              <a:defRPr sz="1600">
                <a:solidFill>
                  <a:srgbClr val="1A365D"/>
                </a:solidFill>
              </a:defRPr>
            </a:pPr>
            <a:r>
              <a:t>   2. 자극 (7)</a:t>
            </a:r>
          </a:p>
          <a:p>
            <a:pPr>
              <a:spcAft>
                <a:spcPts val="800"/>
              </a:spcAft>
              <a:defRPr sz="1600">
                <a:solidFill>
                  <a:srgbClr val="1A365D"/>
                </a:solidFill>
              </a:defRPr>
            </a:pPr>
            <a:r>
              <a:t>   3. 수분감 부족 (5)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A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아누아 강점 &amp; 약점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A365D"/>
                </a:solidFill>
              </a:defRPr>
            </a:pPr>
            <a:r>
              <a:t>◆ TOP 3 긍정 포인트</a:t>
            </a:r>
          </a:p>
          <a:p>
            <a:pPr>
              <a:spcAft>
                <a:spcPts val="800"/>
              </a:spcAft>
              <a:defRPr sz="1600" b="1">
                <a:solidFill>
                  <a:srgbClr val="4A90D9"/>
                </a:solidFill>
              </a:defRPr>
            </a:pPr>
            <a:r>
              <a:t>   1. 촉촉함 (277)</a:t>
            </a:r>
          </a:p>
          <a:p>
            <a:pPr>
              <a:spcAft>
                <a:spcPts val="800"/>
              </a:spcAft>
              <a:defRPr sz="1600">
                <a:solidFill>
                  <a:srgbClr val="1A365D"/>
                </a:solidFill>
              </a:defRPr>
            </a:pPr>
            <a:r>
              <a:t>   2. 순함 (226)</a:t>
            </a:r>
          </a:p>
          <a:p>
            <a:pPr>
              <a:spcAft>
                <a:spcPts val="800"/>
              </a:spcAft>
              <a:defRPr sz="1600">
                <a:solidFill>
                  <a:srgbClr val="1A365D"/>
                </a:solidFill>
              </a:defRPr>
            </a:pPr>
            <a:r>
              <a:t>   3. 진정 효과 (154)</a:t>
            </a:r>
          </a:p>
          <a:p>
            <a:pPr>
              <a:spcAft>
                <a:spcPts val="800"/>
              </a:spcAft>
              <a:defRPr sz="1600">
                <a:solidFill>
                  <a:srgbClr val="1A365D"/>
                </a:solidFill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1A365D"/>
                </a:solidFill>
              </a:defRPr>
            </a:pPr>
            <a:r>
              <a:t>◆ TOP 3 불만 포인트</a:t>
            </a:r>
          </a:p>
          <a:p>
            <a:pPr>
              <a:spcAft>
                <a:spcPts val="800"/>
              </a:spcAft>
              <a:defRPr sz="1600" b="1">
                <a:solidFill>
                  <a:srgbClr val="4A90D9"/>
                </a:solidFill>
              </a:defRPr>
            </a:pPr>
            <a:r>
              <a:t>   1. 가격이 비쌈 (17)</a:t>
            </a:r>
          </a:p>
          <a:p>
            <a:pPr>
              <a:spcAft>
                <a:spcPts val="800"/>
              </a:spcAft>
              <a:defRPr sz="1600">
                <a:solidFill>
                  <a:srgbClr val="1A365D"/>
                </a:solidFill>
              </a:defRPr>
            </a:pPr>
            <a:r>
              <a:t>   2. 건조함 (16)</a:t>
            </a:r>
          </a:p>
          <a:p>
            <a:pPr>
              <a:spcAft>
                <a:spcPts val="800"/>
              </a:spcAft>
              <a:defRPr sz="1600">
                <a:solidFill>
                  <a:srgbClr val="1A365D"/>
                </a:solidFill>
              </a:defRPr>
            </a:pPr>
            <a:r>
              <a:t>   3. 비싼 가격 (14)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A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토니모리 강점 &amp; 약점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A365D"/>
                </a:solidFill>
              </a:defRPr>
            </a:pPr>
            <a:r>
              <a:t>◆ TOP 3 긍정 포인트</a:t>
            </a:r>
          </a:p>
          <a:p>
            <a:pPr>
              <a:spcAft>
                <a:spcPts val="800"/>
              </a:spcAft>
              <a:defRPr sz="1600" b="1">
                <a:solidFill>
                  <a:srgbClr val="4A90D9"/>
                </a:solidFill>
              </a:defRPr>
            </a:pPr>
            <a:r>
              <a:t>   1. 촉촉함 (450)</a:t>
            </a:r>
          </a:p>
          <a:p>
            <a:pPr>
              <a:spcAft>
                <a:spcPts val="800"/>
              </a:spcAft>
              <a:defRPr sz="1600">
                <a:solidFill>
                  <a:srgbClr val="1A365D"/>
                </a:solidFill>
              </a:defRPr>
            </a:pPr>
            <a:r>
              <a:t>   2. 대용량 (210)</a:t>
            </a:r>
          </a:p>
          <a:p>
            <a:pPr>
              <a:spcAft>
                <a:spcPts val="800"/>
              </a:spcAft>
              <a:defRPr sz="1600">
                <a:solidFill>
                  <a:srgbClr val="1A365D"/>
                </a:solidFill>
              </a:defRPr>
            </a:pPr>
            <a:r>
              <a:t>   3. 가성비 (189)</a:t>
            </a:r>
          </a:p>
          <a:p>
            <a:pPr>
              <a:spcAft>
                <a:spcPts val="800"/>
              </a:spcAft>
              <a:defRPr sz="1600">
                <a:solidFill>
                  <a:srgbClr val="1A365D"/>
                </a:solidFill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1A365D"/>
                </a:solidFill>
              </a:defRPr>
            </a:pPr>
            <a:r>
              <a:t>◆ TOP 3 불만 포인트</a:t>
            </a:r>
          </a:p>
          <a:p>
            <a:pPr>
              <a:spcAft>
                <a:spcPts val="800"/>
              </a:spcAft>
              <a:defRPr sz="1600" b="1">
                <a:solidFill>
                  <a:srgbClr val="4A90D9"/>
                </a:solidFill>
              </a:defRPr>
            </a:pPr>
            <a:r>
              <a:t>   1. 냄새 (8)</a:t>
            </a:r>
          </a:p>
          <a:p>
            <a:pPr>
              <a:spcAft>
                <a:spcPts val="800"/>
              </a:spcAft>
              <a:defRPr sz="1600">
                <a:solidFill>
                  <a:srgbClr val="1A365D"/>
                </a:solidFill>
              </a:defRPr>
            </a:pPr>
            <a:r>
              <a:t>   2. 자극 (6)</a:t>
            </a:r>
          </a:p>
          <a:p>
            <a:pPr>
              <a:spcAft>
                <a:spcPts val="800"/>
              </a:spcAft>
              <a:defRPr sz="1600">
                <a:solidFill>
                  <a:srgbClr val="1A365D"/>
                </a:solidFill>
              </a:defRPr>
            </a:pPr>
            <a:r>
              <a:t>   3. 건조함 (6)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A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아비브 강점 &amp; 약점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A365D"/>
                </a:solidFill>
              </a:defRPr>
            </a:pPr>
            <a:r>
              <a:t>◆ TOP 3 긍정 포인트</a:t>
            </a:r>
          </a:p>
          <a:p>
            <a:pPr>
              <a:spcAft>
                <a:spcPts val="800"/>
              </a:spcAft>
              <a:defRPr sz="1600" b="1">
                <a:solidFill>
                  <a:srgbClr val="4A90D9"/>
                </a:solidFill>
              </a:defRPr>
            </a:pPr>
            <a:r>
              <a:t>   1. 촉촉함 (238)</a:t>
            </a:r>
          </a:p>
          <a:p>
            <a:pPr>
              <a:spcAft>
                <a:spcPts val="800"/>
              </a:spcAft>
              <a:defRPr sz="1600">
                <a:solidFill>
                  <a:srgbClr val="1A365D"/>
                </a:solidFill>
              </a:defRPr>
            </a:pPr>
            <a:r>
              <a:t>   2. 진정 효과 (173)</a:t>
            </a:r>
          </a:p>
          <a:p>
            <a:pPr>
              <a:spcAft>
                <a:spcPts val="800"/>
              </a:spcAft>
              <a:defRPr sz="1600">
                <a:solidFill>
                  <a:srgbClr val="1A365D"/>
                </a:solidFill>
              </a:defRPr>
            </a:pPr>
            <a:r>
              <a:t>   3. 순함 (152)</a:t>
            </a:r>
          </a:p>
          <a:p>
            <a:pPr>
              <a:spcAft>
                <a:spcPts val="800"/>
              </a:spcAft>
              <a:defRPr sz="1600">
                <a:solidFill>
                  <a:srgbClr val="1A365D"/>
                </a:solidFill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1A365D"/>
                </a:solidFill>
              </a:defRPr>
            </a:pPr>
            <a:r>
              <a:t>◆ TOP 3 불만 포인트</a:t>
            </a:r>
          </a:p>
          <a:p>
            <a:pPr>
              <a:spcAft>
                <a:spcPts val="800"/>
              </a:spcAft>
              <a:defRPr sz="1600" b="1">
                <a:solidFill>
                  <a:srgbClr val="4A90D9"/>
                </a:solidFill>
              </a:defRPr>
            </a:pPr>
            <a:r>
              <a:t>   1. 냄새 (13)</a:t>
            </a:r>
          </a:p>
          <a:p>
            <a:pPr>
              <a:spcAft>
                <a:spcPts val="800"/>
              </a:spcAft>
              <a:defRPr sz="1600">
                <a:solidFill>
                  <a:srgbClr val="1A365D"/>
                </a:solidFill>
              </a:defRPr>
            </a:pPr>
            <a:r>
              <a:t>   2. 건조함 (8)</a:t>
            </a:r>
          </a:p>
          <a:p>
            <a:pPr>
              <a:spcAft>
                <a:spcPts val="800"/>
              </a:spcAft>
              <a:defRPr sz="1600">
                <a:solidFill>
                  <a:srgbClr val="1A365D"/>
                </a:solidFill>
              </a:defRPr>
            </a:pPr>
            <a:r>
              <a:t>   3. 효과 없음 (8)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560320"/>
            <a:ext cx="9144000" cy="137160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플랫폼 비교 분석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A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올리브영 vs 무신사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A365D"/>
                </a:solidFill>
              </a:defRPr>
            </a:pPr>
            <a:r>
              <a:t>                        올리브영              무신사</a:t>
            </a:r>
          </a:p>
          <a:p>
            <a:pPr>
              <a:spcAft>
                <a:spcPts val="800"/>
              </a:spcAft>
              <a:defRPr sz="1600">
                <a:solidFill>
                  <a:srgbClr val="1A365D"/>
                </a:solidFill>
              </a:defRPr>
            </a:pPr>
            <a:r>
              <a:t>━━━━━━━━━━━━━━━━━━━━━━━━━━━━━━━━━━━━━━━━━━━━━━━━━━━━━</a:t>
            </a:r>
          </a:p>
          <a:p>
            <a:pPr>
              <a:spcAft>
                <a:spcPts val="800"/>
              </a:spcAft>
              <a:defRPr sz="1600">
                <a:solidFill>
                  <a:srgbClr val="1A365D"/>
                </a:solidFill>
              </a:defRPr>
            </a:pPr>
            <a:r>
              <a:t>리뷰 수                  27,745건             6,163건</a:t>
            </a:r>
          </a:p>
          <a:p>
            <a:pPr>
              <a:spcAft>
                <a:spcPts val="800"/>
              </a:spcAft>
              <a:defRPr sz="1600">
                <a:solidFill>
                  <a:srgbClr val="1A365D"/>
                </a:solidFill>
              </a:defRPr>
            </a:pPr>
            <a:r>
              <a:t>전체 비중                 81.8%               18.2%</a:t>
            </a:r>
          </a:p>
          <a:p>
            <a:pPr>
              <a:spcAft>
                <a:spcPts val="800"/>
              </a:spcAft>
              <a:defRPr sz="1600">
                <a:solidFill>
                  <a:srgbClr val="1A365D"/>
                </a:solidFill>
              </a:defRPr>
            </a:pPr>
          </a:p>
          <a:p>
            <a:pPr>
              <a:spcAft>
                <a:spcPts val="800"/>
              </a:spcAft>
              <a:defRPr sz="1600" b="1">
                <a:solidFill>
                  <a:srgbClr val="4A90D9"/>
                </a:solidFill>
              </a:defRPr>
            </a:pPr>
            <a:r>
              <a:t>긍정률                    89.7%               95.5%</a:t>
            </a:r>
          </a:p>
          <a:p>
            <a:pPr>
              <a:spcAft>
                <a:spcPts val="800"/>
              </a:spcAft>
              <a:defRPr sz="1600" b="1">
                <a:solidFill>
                  <a:srgbClr val="4A90D9"/>
                </a:solidFill>
              </a:defRPr>
            </a:pPr>
            <a:r>
              <a:t>부정률                     2.3%                0.6%</a:t>
            </a:r>
          </a:p>
          <a:p>
            <a:pPr>
              <a:spcAft>
                <a:spcPts val="800"/>
              </a:spcAft>
              <a:defRPr sz="1600">
                <a:solidFill>
                  <a:srgbClr val="1A365D"/>
                </a:solidFill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1A365D"/>
                </a:solidFill>
              </a:defRPr>
            </a:pPr>
            <a:r>
              <a:t>━━━━━━━━━━━━━━━━━━━━━━━━━━━━━━━━━━━━━━━━━━━━━━━━━━━━━</a:t>
            </a:r>
          </a:p>
          <a:p>
            <a:pPr>
              <a:spcAft>
                <a:spcPts val="800"/>
              </a:spcAft>
              <a:defRPr sz="1600">
                <a:solidFill>
                  <a:srgbClr val="1A365D"/>
                </a:solidFill>
              </a:defRPr>
            </a:pPr>
          </a:p>
          <a:p>
            <a:pPr>
              <a:spcAft>
                <a:spcPts val="800"/>
              </a:spcAft>
              <a:defRPr sz="1600" b="1">
                <a:solidFill>
                  <a:srgbClr val="4A90D9"/>
                </a:solidFill>
              </a:defRPr>
            </a:pPr>
            <a:r>
              <a:t>▶ 무신사 리뷰가 올리브영 대비 긍정률 5.8%p 높음</a:t>
            </a:r>
          </a:p>
          <a:p>
            <a:pPr>
              <a:spcAft>
                <a:spcPts val="800"/>
              </a:spcAft>
              <a:defRPr sz="1600" b="1">
                <a:solidFill>
                  <a:srgbClr val="4A90D9"/>
                </a:solidFill>
              </a:defRPr>
            </a:pPr>
            <a:r>
              <a:t>▶ 무신사 부정률은 올리브영의 1/4 수준</a:t>
            </a:r>
          </a:p>
          <a:p>
            <a:pPr>
              <a:spcAft>
                <a:spcPts val="800"/>
              </a:spcAft>
              <a:defRPr sz="1600">
                <a:solidFill>
                  <a:srgbClr val="1A365D"/>
                </a:solidFill>
              </a:defRPr>
            </a:pPr>
            <a:r>
              <a:t>▶ 무신사 주요 브랜드: 토리든, 에스네이처, 아비브, 토니모리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560320"/>
            <a:ext cx="9144000" cy="137160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월별 감성 추이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A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브랜드별 월별 긍정률 추이 (최근 6개월)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1097280"/>
          <a:ext cx="859536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월</a:t>
                      </a:r>
                    </a:p>
                  </a:txBody>
                  <a:tcPr>
                    <a:solidFill>
                      <a:srgbClr val="1A365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토리든</a:t>
                      </a:r>
                    </a:p>
                  </a:txBody>
                  <a:tcPr>
                    <a:solidFill>
                      <a:srgbClr val="1A365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브링그린</a:t>
                      </a:r>
                    </a:p>
                  </a:txBody>
                  <a:tcPr>
                    <a:solidFill>
                      <a:srgbClr val="1A365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독도토너</a:t>
                      </a:r>
                    </a:p>
                  </a:txBody>
                  <a:tcPr>
                    <a:solidFill>
                      <a:srgbClr val="1A365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에스네이처</a:t>
                      </a:r>
                    </a:p>
                  </a:txBody>
                  <a:tcPr>
                    <a:solidFill>
                      <a:srgbClr val="1A365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아누아</a:t>
                      </a:r>
                    </a:p>
                  </a:txBody>
                  <a:tcPr>
                    <a:solidFill>
                      <a:srgbClr val="1A365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토니모리</a:t>
                      </a:r>
                    </a:p>
                  </a:txBody>
                  <a:tcPr>
                    <a:solidFill>
                      <a:srgbClr val="1A365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아비브</a:t>
                      </a:r>
                    </a:p>
                  </a:txBody>
                  <a:tcPr>
                    <a:solidFill>
                      <a:srgbClr val="1A365D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A365D"/>
                          </a:solidFill>
                        </a:defRPr>
                      </a:pPr>
                      <a:r>
                        <a:t>2025-08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365D"/>
                          </a:solidFill>
                        </a:defRPr>
                      </a:pPr>
                      <a:r>
                        <a:t>91%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365D"/>
                          </a:solidFill>
                        </a:defRPr>
                      </a:pPr>
                      <a:r>
                        <a:t>92%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365D"/>
                          </a:solidFill>
                        </a:defRPr>
                      </a:pPr>
                      <a:r>
                        <a:t>88%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365D"/>
                          </a:solidFill>
                        </a:defRPr>
                      </a:pPr>
                      <a:r>
                        <a:t>92%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365D"/>
                          </a:solidFill>
                        </a:defRPr>
                      </a:pPr>
                      <a:r>
                        <a:t>88%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365D"/>
                          </a:solidFill>
                        </a:defRPr>
                      </a:pPr>
                      <a:r>
                        <a:t>95%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365D"/>
                          </a:solidFill>
                        </a:defRPr>
                      </a:pPr>
                      <a:r>
                        <a:t>88%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A365D"/>
                          </a:solidFill>
                        </a:defRPr>
                      </a:pPr>
                      <a:r>
                        <a:t>2025-09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365D"/>
                          </a:solidFill>
                        </a:defRPr>
                      </a:pPr>
                      <a:r>
                        <a:t>92%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365D"/>
                          </a:solidFill>
                        </a:defRPr>
                      </a:pPr>
                      <a:r>
                        <a:t>88%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365D"/>
                          </a:solidFill>
                        </a:defRPr>
                      </a:pPr>
                      <a:r>
                        <a:t>92%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365D"/>
                          </a:solidFill>
                        </a:defRPr>
                      </a:pPr>
                      <a:r>
                        <a:t>93%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365D"/>
                          </a:solidFill>
                        </a:defRPr>
                      </a:pPr>
                      <a:r>
                        <a:t>91%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365D"/>
                          </a:solidFill>
                        </a:defRPr>
                      </a:pPr>
                      <a:r>
                        <a:t>92%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365D"/>
                          </a:solidFill>
                        </a:defRPr>
                      </a:pPr>
                      <a:r>
                        <a:t>92%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A365D"/>
                          </a:solidFill>
                        </a:defRPr>
                      </a:pPr>
                      <a:r>
                        <a:t>2025-10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365D"/>
                          </a:solidFill>
                        </a:defRPr>
                      </a:pPr>
                      <a:r>
                        <a:t>92%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365D"/>
                          </a:solidFill>
                        </a:defRPr>
                      </a:pPr>
                      <a:r>
                        <a:t>88%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365D"/>
                          </a:solidFill>
                        </a:defRPr>
                      </a:pPr>
                      <a:r>
                        <a:t>90%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365D"/>
                          </a:solidFill>
                        </a:defRPr>
                      </a:pPr>
                      <a:r>
                        <a:t>96%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365D"/>
                          </a:solidFill>
                        </a:defRPr>
                      </a:pPr>
                      <a:r>
                        <a:t>88%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365D"/>
                          </a:solidFill>
                        </a:defRPr>
                      </a:pPr>
                      <a:r>
                        <a:t>94%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365D"/>
                          </a:solidFill>
                        </a:defRPr>
                      </a:pPr>
                      <a:r>
                        <a:t>91%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A365D"/>
                          </a:solidFill>
                        </a:defRPr>
                      </a:pPr>
                      <a:r>
                        <a:t>2025-11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365D"/>
                          </a:solidFill>
                        </a:defRPr>
                      </a:pPr>
                      <a:r>
                        <a:t>91%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365D"/>
                          </a:solidFill>
                        </a:defRPr>
                      </a:pPr>
                      <a:r>
                        <a:t>88%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365D"/>
                          </a:solidFill>
                        </a:defRPr>
                      </a:pPr>
                      <a:r>
                        <a:t>89%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365D"/>
                          </a:solidFill>
                        </a:defRPr>
                      </a:pPr>
                      <a:r>
                        <a:t>91%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365D"/>
                          </a:solidFill>
                        </a:defRPr>
                      </a:pPr>
                      <a:r>
                        <a:t>89%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365D"/>
                          </a:solidFill>
                        </a:defRPr>
                      </a:pPr>
                      <a:r>
                        <a:t>91%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365D"/>
                          </a:solidFill>
                        </a:defRPr>
                      </a:pPr>
                      <a:r>
                        <a:t>94%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A365D"/>
                          </a:solidFill>
                        </a:defRPr>
                      </a:pPr>
                      <a:r>
                        <a:t>2025-12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365D"/>
                          </a:solidFill>
                        </a:defRPr>
                      </a:pPr>
                      <a:r>
                        <a:t>89%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365D"/>
                          </a:solidFill>
                        </a:defRPr>
                      </a:pPr>
                      <a:r>
                        <a:t>87%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365D"/>
                          </a:solidFill>
                        </a:defRPr>
                      </a:pPr>
                      <a:r>
                        <a:t>90%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365D"/>
                          </a:solidFill>
                        </a:defRPr>
                      </a:pPr>
                      <a:r>
                        <a:t>90%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365D"/>
                          </a:solidFill>
                        </a:defRPr>
                      </a:pPr>
                      <a:r>
                        <a:t>92%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365D"/>
                          </a:solidFill>
                        </a:defRPr>
                      </a:pPr>
                      <a:r>
                        <a:t>92%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365D"/>
                          </a:solidFill>
                        </a:defRPr>
                      </a:pPr>
                      <a:r>
                        <a:t>88%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A365D"/>
                          </a:solidFill>
                        </a:defRPr>
                      </a:pPr>
                      <a:r>
                        <a:t>2026-01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365D"/>
                          </a:solidFill>
                        </a:defRPr>
                      </a:pPr>
                      <a:r>
                        <a:t>89%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365D"/>
                          </a:solidFill>
                        </a:defRPr>
                      </a:pPr>
                      <a:r>
                        <a:t>88%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365D"/>
                          </a:solidFill>
                        </a:defRPr>
                      </a:pPr>
                      <a:r>
                        <a:t>90%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365D"/>
                          </a:solidFill>
                        </a:defRPr>
                      </a:pPr>
                      <a:r>
                        <a:t>93%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365D"/>
                          </a:solidFill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365D"/>
                          </a:solidFill>
                        </a:defRPr>
                      </a:pPr>
                      <a:r>
                        <a:t>91%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365D"/>
                          </a:solidFill>
                        </a:defRPr>
                      </a:pPr>
                      <a:r>
                        <a:t>85%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A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월별 추이 분석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4A90D9"/>
                </a:solidFill>
              </a:defRPr>
            </a:pPr>
            <a:r>
              <a:t>▶ 전체 긍정률 추이: 91.3% (2월) → 89.6% (1월)</a:t>
            </a:r>
          </a:p>
          <a:p>
            <a:pPr>
              <a:spcAft>
                <a:spcPts val="800"/>
              </a:spcAft>
              <a:defRPr sz="1600">
                <a:solidFill>
                  <a:srgbClr val="1A365D"/>
                </a:solidFill>
              </a:defRPr>
            </a:pPr>
            <a:r>
              <a:t>   - 하반기로 갈수록 소폭 하락 추세 (-1.7%p)</a:t>
            </a:r>
          </a:p>
          <a:p>
            <a:pPr>
              <a:spcAft>
                <a:spcPts val="800"/>
              </a:spcAft>
              <a:defRPr sz="1600">
                <a:solidFill>
                  <a:srgbClr val="1A365D"/>
                </a:solidFill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1A365D"/>
                </a:solidFill>
              </a:defRPr>
            </a:pPr>
            <a:r>
              <a:t>▶ 안정적 브랜드 (변동폭 5%p 이내)</a:t>
            </a:r>
          </a:p>
          <a:p>
            <a:pPr>
              <a:spcAft>
                <a:spcPts val="800"/>
              </a:spcAft>
              <a:defRPr sz="1600">
                <a:solidFill>
                  <a:srgbClr val="1A365D"/>
                </a:solidFill>
              </a:defRPr>
            </a:pPr>
            <a:r>
              <a:t>   - 브링그린: 87~88% 유지</a:t>
            </a:r>
          </a:p>
          <a:p>
            <a:pPr>
              <a:spcAft>
                <a:spcPts val="800"/>
              </a:spcAft>
              <a:defRPr sz="1600">
                <a:solidFill>
                  <a:srgbClr val="1A365D"/>
                </a:solidFill>
              </a:defRPr>
            </a:pPr>
            <a:r>
              <a:t>   - 토니모리: 91~95% 유지</a:t>
            </a:r>
          </a:p>
          <a:p>
            <a:pPr>
              <a:spcAft>
                <a:spcPts val="800"/>
              </a:spcAft>
              <a:defRPr sz="1600">
                <a:solidFill>
                  <a:srgbClr val="1A365D"/>
                </a:solidFill>
              </a:defRPr>
            </a:pPr>
            <a:r>
              <a:t>   - 독도토너: 89~92% 유지</a:t>
            </a:r>
          </a:p>
          <a:p>
            <a:pPr>
              <a:spcAft>
                <a:spcPts val="800"/>
              </a:spcAft>
              <a:defRPr sz="1600">
                <a:solidFill>
                  <a:srgbClr val="1A365D"/>
                </a:solidFill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1A365D"/>
                </a:solidFill>
              </a:defRPr>
            </a:pPr>
            <a:r>
              <a:t>▶ 변동 브랜드</a:t>
            </a:r>
          </a:p>
          <a:p>
            <a:pPr>
              <a:spcAft>
                <a:spcPts val="800"/>
              </a:spcAft>
              <a:defRPr sz="1600" b="1">
                <a:solidFill>
                  <a:srgbClr val="4A90D9"/>
                </a:solidFill>
              </a:defRPr>
            </a:pPr>
            <a:r>
              <a:t>   - 아비브: 85~94% (9%p 변동)</a:t>
            </a:r>
          </a:p>
          <a:p>
            <a:pPr>
              <a:spcAft>
                <a:spcPts val="800"/>
              </a:spcAft>
              <a:defRPr sz="1600">
                <a:solidFill>
                  <a:srgbClr val="1A365D"/>
                </a:solidFill>
              </a:defRPr>
            </a:pPr>
            <a:r>
              <a:t>   - 에스네이처: 91~96% (5%p 변동)</a:t>
            </a:r>
          </a:p>
          <a:p>
            <a:pPr>
              <a:spcAft>
                <a:spcPts val="800"/>
              </a:spcAft>
              <a:defRPr sz="1600">
                <a:solidFill>
                  <a:srgbClr val="1A365D"/>
                </a:solidFill>
              </a:defRPr>
            </a:pPr>
          </a:p>
          <a:p>
            <a:pPr>
              <a:spcAft>
                <a:spcPts val="800"/>
              </a:spcAft>
              <a:defRPr sz="1600" b="1">
                <a:solidFill>
                  <a:srgbClr val="4A90D9"/>
                </a:solidFill>
              </a:defRPr>
            </a:pPr>
            <a:r>
              <a:t>▶ 토리든: 92% → 89% (3%p 하락 추세 모니터링 필요)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560320"/>
            <a:ext cx="9144000" cy="137160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제형 &amp; 사용법 분석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A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제형(Texture) 인식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4A90D9"/>
                </a:solidFill>
              </a:defRPr>
            </a:pPr>
            <a:r>
              <a:t>▶ 전체 브랜드 '물같음' 제형이 압도적 (65~83%)</a:t>
            </a:r>
          </a:p>
          <a:p>
            <a:pPr>
              <a:spcAft>
                <a:spcPts val="800"/>
              </a:spcAft>
              <a:defRPr sz="1600">
                <a:solidFill>
                  <a:srgbClr val="1A365D"/>
                </a:solidFill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1A365D"/>
                </a:solidFill>
              </a:defRPr>
            </a:pPr>
            <a:r>
              <a:t>  브랜드별 '물같음' 비율:</a:t>
            </a:r>
          </a:p>
          <a:p>
            <a:pPr>
              <a:spcAft>
                <a:spcPts val="800"/>
              </a:spcAft>
              <a:defRPr sz="1600">
                <a:solidFill>
                  <a:srgbClr val="1A365D"/>
                </a:solidFill>
              </a:defRPr>
            </a:pPr>
            <a:r>
              <a:t>   - 토리든: 82.7%</a:t>
            </a:r>
          </a:p>
          <a:p>
            <a:pPr>
              <a:spcAft>
                <a:spcPts val="800"/>
              </a:spcAft>
              <a:defRPr sz="1600">
                <a:solidFill>
                  <a:srgbClr val="1A365D"/>
                </a:solidFill>
              </a:defRPr>
            </a:pPr>
            <a:r>
              <a:t>   - 독도토너: 82.4%</a:t>
            </a:r>
          </a:p>
          <a:p>
            <a:pPr>
              <a:spcAft>
                <a:spcPts val="800"/>
              </a:spcAft>
              <a:defRPr sz="1600">
                <a:solidFill>
                  <a:srgbClr val="1A365D"/>
                </a:solidFill>
              </a:defRPr>
            </a:pPr>
            <a:r>
              <a:t>   - 에스네이처: 79.4%</a:t>
            </a:r>
          </a:p>
          <a:p>
            <a:pPr>
              <a:spcAft>
                <a:spcPts val="800"/>
              </a:spcAft>
              <a:defRPr sz="1600">
                <a:solidFill>
                  <a:srgbClr val="1A365D"/>
                </a:solidFill>
              </a:defRPr>
            </a:pPr>
            <a:r>
              <a:t>   - 아누아: 75.5%</a:t>
            </a:r>
          </a:p>
          <a:p>
            <a:pPr>
              <a:spcAft>
                <a:spcPts val="800"/>
              </a:spcAft>
              <a:defRPr sz="1600">
                <a:solidFill>
                  <a:srgbClr val="1A365D"/>
                </a:solidFill>
              </a:defRPr>
            </a:pPr>
            <a:r>
              <a:t>   - 브링그린: 73.9%</a:t>
            </a:r>
          </a:p>
          <a:p>
            <a:pPr>
              <a:spcAft>
                <a:spcPts val="800"/>
              </a:spcAft>
              <a:defRPr sz="1600">
                <a:solidFill>
                  <a:srgbClr val="1A365D"/>
                </a:solidFill>
              </a:defRPr>
            </a:pPr>
            <a:r>
              <a:t>   - 아비브: 72.7%</a:t>
            </a:r>
          </a:p>
          <a:p>
            <a:pPr>
              <a:spcAft>
                <a:spcPts val="800"/>
              </a:spcAft>
              <a:defRPr sz="1600" b="1">
                <a:solidFill>
                  <a:srgbClr val="4A90D9"/>
                </a:solidFill>
              </a:defRPr>
            </a:pPr>
            <a:r>
              <a:t>   - 토니모리: 65.7% (쫀쫀함 17% 특징)</a:t>
            </a:r>
          </a:p>
          <a:p>
            <a:pPr>
              <a:spcAft>
                <a:spcPts val="800"/>
              </a:spcAft>
              <a:defRPr sz="1600">
                <a:solidFill>
                  <a:srgbClr val="1A365D"/>
                </a:solidFill>
              </a:defRPr>
            </a:pPr>
          </a:p>
          <a:p>
            <a:pPr>
              <a:spcAft>
                <a:spcPts val="800"/>
              </a:spcAft>
              <a:defRPr sz="1600" b="1">
                <a:solidFill>
                  <a:srgbClr val="4A90D9"/>
                </a:solidFill>
              </a:defRPr>
            </a:pPr>
            <a:r>
              <a:t>▶ 토니모리만 '쫀쫀함' 제형 언급 17%로 차별화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A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주요 사용법(Usage)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A365D"/>
                </a:solidFill>
              </a:defRPr>
            </a:pPr>
            <a:r>
              <a:t>▶ 사용법 TOP 4</a:t>
            </a:r>
          </a:p>
          <a:p>
            <a:pPr>
              <a:spcAft>
                <a:spcPts val="800"/>
              </a:spcAft>
              <a:defRPr sz="1600">
                <a:solidFill>
                  <a:srgbClr val="1A365D"/>
                </a:solidFill>
              </a:defRPr>
            </a:pPr>
          </a:p>
          <a:p>
            <a:pPr>
              <a:spcAft>
                <a:spcPts val="800"/>
              </a:spcAft>
              <a:defRPr sz="1600" b="1">
                <a:solidFill>
                  <a:srgbClr val="4A90D9"/>
                </a:solidFill>
              </a:defRPr>
            </a:pPr>
            <a:r>
              <a:t>   1. 닦토 (닦아내는 토너): 31.7% (10,759건)</a:t>
            </a:r>
          </a:p>
          <a:p>
            <a:pPr>
              <a:spcAft>
                <a:spcPts val="800"/>
              </a:spcAft>
              <a:defRPr sz="1600">
                <a:solidFill>
                  <a:srgbClr val="1A365D"/>
                </a:solidFill>
              </a:defRPr>
            </a:pPr>
            <a:r>
              <a:t>   2. 레이어링: 14.9% (5,060건)</a:t>
            </a:r>
          </a:p>
          <a:p>
            <a:pPr>
              <a:spcAft>
                <a:spcPts val="800"/>
              </a:spcAft>
              <a:defRPr sz="1600">
                <a:solidFill>
                  <a:srgbClr val="1A365D"/>
                </a:solidFill>
              </a:defRPr>
            </a:pPr>
            <a:r>
              <a:t>   3. 스킨팩: 8.7% (2,936건)</a:t>
            </a:r>
          </a:p>
          <a:p>
            <a:pPr>
              <a:spcAft>
                <a:spcPts val="800"/>
              </a:spcAft>
              <a:defRPr sz="1600">
                <a:solidFill>
                  <a:srgbClr val="1A365D"/>
                </a:solidFill>
              </a:defRPr>
            </a:pPr>
            <a:r>
              <a:t>   4. 바디 사용: 0.6% (196건)</a:t>
            </a:r>
          </a:p>
          <a:p>
            <a:pPr>
              <a:spcAft>
                <a:spcPts val="800"/>
              </a:spcAft>
              <a:defRPr sz="1600">
                <a:solidFill>
                  <a:srgbClr val="1A365D"/>
                </a:solidFill>
              </a:defRPr>
            </a:pPr>
          </a:p>
          <a:p>
            <a:pPr>
              <a:spcAft>
                <a:spcPts val="800"/>
              </a:spcAft>
              <a:defRPr sz="1600" b="1">
                <a:solidFill>
                  <a:srgbClr val="4A90D9"/>
                </a:solidFill>
              </a:defRPr>
            </a:pPr>
            <a:r>
              <a:t>▶ 닦토 + 레이어링이 전체의 46.6%</a:t>
            </a:r>
          </a:p>
          <a:p>
            <a:pPr>
              <a:spcAft>
                <a:spcPts val="800"/>
              </a:spcAft>
              <a:defRPr sz="1600">
                <a:solidFill>
                  <a:srgbClr val="1A365D"/>
                </a:solidFill>
              </a:defRPr>
            </a:pPr>
            <a:r>
              <a:t>   → 대용량, 순함이 중요한 구매 요인</a:t>
            </a:r>
          </a:p>
          <a:p>
            <a:pPr>
              <a:spcAft>
                <a:spcPts val="800"/>
              </a:spcAft>
              <a:defRPr sz="1600">
                <a:solidFill>
                  <a:srgbClr val="1A365D"/>
                </a:solidFill>
              </a:defRPr>
            </a:pPr>
          </a:p>
          <a:p>
            <a:pPr>
              <a:spcAft>
                <a:spcPts val="800"/>
              </a:spcAft>
              <a:defRPr sz="1600" b="1">
                <a:solidFill>
                  <a:srgbClr val="4A90D9"/>
                </a:solidFill>
              </a:defRPr>
            </a:pPr>
            <a:r>
              <a:t>▶ 스킨팩 사용 언급도 8.7%로 상당</a:t>
            </a:r>
          </a:p>
          <a:p>
            <a:pPr>
              <a:spcAft>
                <a:spcPts val="800"/>
              </a:spcAft>
              <a:defRPr sz="1600">
                <a:solidFill>
                  <a:srgbClr val="1A365D"/>
                </a:solidFill>
              </a:defRPr>
            </a:pPr>
            <a:r>
              <a:t>   → 진정/보습 효과 마케팅 포인트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560320"/>
            <a:ext cx="9144000" cy="137160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핵심 인사이트 &amp; 제언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💡 브랜드 전략 제언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74320" y="1188720"/>
            <a:ext cx="8595360" cy="822960"/>
          </a:xfrm>
          <a:prstGeom prst="roundRect">
            <a:avLst/>
          </a:prstGeom>
          <a:solidFill>
            <a:srgbClr val="F8F9FA"/>
          </a:solidFill>
          <a:ln>
            <a:solidFill>
              <a:srgbClr val="4A90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1A365D"/>
                </a:solidFill>
              </a:defRPr>
            </a:pPr>
            <a:r>
              <a:t>① 토리든: 점유율 1위(30%) 유지. 최근 긍정률 하락(92→89%) 모니터링 필요. '건조함' 불만 개선 시급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" y="2103120"/>
            <a:ext cx="8595360" cy="822960"/>
          </a:xfrm>
          <a:prstGeom prst="roundRect">
            <a:avLst/>
          </a:prstGeom>
          <a:solidFill>
            <a:srgbClr val="F8F9FA"/>
          </a:solidFill>
          <a:ln>
            <a:solidFill>
              <a:srgbClr val="4A90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2240279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1A365D"/>
                </a:solidFill>
              </a:defRPr>
            </a:pPr>
            <a:r>
              <a:t>② 브링그린: 진정 효과 강점 유지. '자극' 불만 해소로 민감성 시장 확대 가능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" y="3017520"/>
            <a:ext cx="8595360" cy="822960"/>
          </a:xfrm>
          <a:prstGeom prst="roundRect">
            <a:avLst/>
          </a:prstGeom>
          <a:solidFill>
            <a:srgbClr val="F8F9FA"/>
          </a:solidFill>
          <a:ln>
            <a:solidFill>
              <a:srgbClr val="4A90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3154679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1A365D"/>
                </a:solidFill>
              </a:defRPr>
            </a:pPr>
            <a:r>
              <a:t>③ 독도토너: 보습/진정 균형형 포지셔닝이 강점. 무신사 채널 확대 기회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4320" y="3931920"/>
            <a:ext cx="8595360" cy="822960"/>
          </a:xfrm>
          <a:prstGeom prst="roundRect">
            <a:avLst/>
          </a:prstGeom>
          <a:solidFill>
            <a:srgbClr val="F8F9FA"/>
          </a:solidFill>
          <a:ln>
            <a:solidFill>
              <a:srgbClr val="4A90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406908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1A365D"/>
                </a:solidFill>
              </a:defRPr>
            </a:pPr>
            <a:r>
              <a:t>④ 아누아: '가격이 비쌈' 불만 1위. 가격 정책 또는 가치 커뮤니케이션 재검토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4320" y="4846320"/>
            <a:ext cx="8595360" cy="822960"/>
          </a:xfrm>
          <a:prstGeom prst="roundRect">
            <a:avLst/>
          </a:prstGeom>
          <a:solidFill>
            <a:srgbClr val="F8F9FA"/>
          </a:solidFill>
          <a:ln>
            <a:solidFill>
              <a:srgbClr val="4A90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498348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1A365D"/>
                </a:solidFill>
              </a:defRPr>
            </a:pPr>
            <a:r>
              <a:t>⑤ 토니모리: 가성비 리더(39.3%). 쫀쫀한 제형 차별화 유지하며 프리미엄 라인 고려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💡 채널 &amp; 제품 제언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74320" y="1188720"/>
            <a:ext cx="8595360" cy="822960"/>
          </a:xfrm>
          <a:prstGeom prst="roundRect">
            <a:avLst/>
          </a:prstGeom>
          <a:solidFill>
            <a:srgbClr val="F8F9FA"/>
          </a:solidFill>
          <a:ln>
            <a:solidFill>
              <a:srgbClr val="4A90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1A365D"/>
                </a:solidFill>
              </a:defRPr>
            </a:pPr>
            <a:r>
              <a:t>① 무신사 채널: 긍정률 95.5%로 올리브영(89.7%) 대비 월등. 채널 확대 검토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" y="2103120"/>
            <a:ext cx="8595360" cy="822960"/>
          </a:xfrm>
          <a:prstGeom prst="roundRect">
            <a:avLst/>
          </a:prstGeom>
          <a:solidFill>
            <a:srgbClr val="F8F9FA"/>
          </a:solidFill>
          <a:ln>
            <a:solidFill>
              <a:srgbClr val="4A90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2240279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1A365D"/>
                </a:solidFill>
              </a:defRPr>
            </a:pPr>
            <a:r>
              <a:t>② 대용량 마케팅: '대용량', '가성비'가 주요 구매 동인. 용량 다변화 전략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" y="3017520"/>
            <a:ext cx="8595360" cy="822960"/>
          </a:xfrm>
          <a:prstGeom prst="roundRect">
            <a:avLst/>
          </a:prstGeom>
          <a:solidFill>
            <a:srgbClr val="F8F9FA"/>
          </a:solidFill>
          <a:ln>
            <a:solidFill>
              <a:srgbClr val="4A90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3154679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1A365D"/>
                </a:solidFill>
              </a:defRPr>
            </a:pPr>
            <a:r>
              <a:t>③ 사용법 교육: 닦토(31.7%), 레이어링(14.9%) 중심 콘텐츠 강화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4320" y="3931920"/>
            <a:ext cx="8595360" cy="822960"/>
          </a:xfrm>
          <a:prstGeom prst="roundRect">
            <a:avLst/>
          </a:prstGeom>
          <a:solidFill>
            <a:srgbClr val="F8F9FA"/>
          </a:solidFill>
          <a:ln>
            <a:solidFill>
              <a:srgbClr val="4A90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406908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1A365D"/>
                </a:solidFill>
              </a:defRPr>
            </a:pPr>
            <a:r>
              <a:t>④ 공통 Pain Point: '건조함'(134건), '자극'(89건) - 민감성 소구 강화 필요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4320" y="4846320"/>
            <a:ext cx="8595360" cy="822960"/>
          </a:xfrm>
          <a:prstGeom prst="roundRect">
            <a:avLst/>
          </a:prstGeom>
          <a:solidFill>
            <a:srgbClr val="F8F9FA"/>
          </a:solidFill>
          <a:ln>
            <a:solidFill>
              <a:srgbClr val="4A90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498348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1A365D"/>
                </a:solidFill>
              </a:defRPr>
            </a:pPr>
            <a:r>
              <a:t>⑤ 텍스처 차별화: 대부분 '물같음' 포지셔닝. 쫀쫀/크리미 라인으로 차별화 기회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560320"/>
            <a:ext cx="9144000" cy="137160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부록: 상세 데이터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A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전체 Pain Points TOP 10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1097280"/>
          <a:ext cx="8595360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65120"/>
                <a:gridCol w="2865120"/>
                <a:gridCol w="2865120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Pain Point</a:t>
                      </a:r>
                    </a:p>
                  </a:txBody>
                  <a:tcPr>
                    <a:solidFill>
                      <a:srgbClr val="1A365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건수</a:t>
                      </a:r>
                    </a:p>
                  </a:txBody>
                  <a:tcPr>
                    <a:solidFill>
                      <a:srgbClr val="1A365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주요 브랜드</a:t>
                      </a:r>
                    </a:p>
                  </a:txBody>
                  <a:tcPr>
                    <a:solidFill>
                      <a:srgbClr val="1A365D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A365D"/>
                          </a:solidFill>
                        </a:defRPr>
                      </a:pPr>
                      <a:r>
                        <a:t>건조함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365D"/>
                          </a:solidFill>
                        </a:defRPr>
                      </a:pPr>
                      <a:r>
                        <a:t>134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365D"/>
                          </a:solidFill>
                        </a:defRPr>
                      </a:pPr>
                      <a:r>
                        <a:t>모든 브랜드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A365D"/>
                          </a:solidFill>
                        </a:defRPr>
                      </a:pPr>
                      <a:r>
                        <a:t>자극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365D"/>
                          </a:solidFill>
                        </a:defRPr>
                      </a:pPr>
                      <a:r>
                        <a:t>89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365D"/>
                          </a:solidFill>
                        </a:defRPr>
                      </a:pPr>
                      <a:r>
                        <a:t>브링그린, 아누아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A365D"/>
                          </a:solidFill>
                        </a:defRPr>
                      </a:pPr>
                      <a:r>
                        <a:t>눈에 들어가면 따가움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365D"/>
                          </a:solidFill>
                        </a:defRPr>
                      </a:pPr>
                      <a:r>
                        <a:t>62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365D"/>
                          </a:solidFill>
                        </a:defRPr>
                      </a:pPr>
                      <a:r>
                        <a:t>브링그린, 에스네이처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A365D"/>
                          </a:solidFill>
                        </a:defRPr>
                      </a:pPr>
                      <a:r>
                        <a:t>보습 부족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365D"/>
                          </a:solidFill>
                        </a:defRPr>
                      </a:pPr>
                      <a:r>
                        <a:t>53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365D"/>
                          </a:solidFill>
                        </a:defRPr>
                      </a:pPr>
                      <a:r>
                        <a:t>토리든, 독도토너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A365D"/>
                          </a:solidFill>
                        </a:defRPr>
                      </a:pPr>
                      <a:r>
                        <a:t>가격이 비쌈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365D"/>
                          </a:solidFill>
                        </a:defRPr>
                      </a:pPr>
                      <a:r>
                        <a:t>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365D"/>
                          </a:solidFill>
                        </a:defRPr>
                      </a:pPr>
                      <a:r>
                        <a:t>아누아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A365D"/>
                          </a:solidFill>
                        </a:defRPr>
                      </a:pPr>
                      <a:r>
                        <a:t>수분감 부족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365D"/>
                          </a:solidFill>
                        </a:defRPr>
                      </a:pPr>
                      <a:r>
                        <a:t>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365D"/>
                          </a:solidFill>
                        </a:defRPr>
                      </a:pPr>
                      <a:r>
                        <a:t>독도토너, 에스네이처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A365D"/>
                          </a:solidFill>
                        </a:defRPr>
                      </a:pPr>
                      <a:r>
                        <a:t>진정 효과 부족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365D"/>
                          </a:solidFill>
                        </a:defRPr>
                      </a:pPr>
                      <a:r>
                        <a:t>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365D"/>
                          </a:solidFill>
                        </a:defRPr>
                      </a:pPr>
                      <a:r>
                        <a:t>아누아, 아비브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A365D"/>
                          </a:solidFill>
                        </a:defRPr>
                      </a:pPr>
                      <a:r>
                        <a:t>효과 부족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365D"/>
                          </a:solidFill>
                        </a:defRPr>
                      </a:pPr>
                      <a:r>
                        <a:t>43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365D"/>
                          </a:solidFill>
                        </a:defRPr>
                      </a:pPr>
                      <a:r>
                        <a:t>독도토너, 아비브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A365D"/>
                          </a:solidFill>
                        </a:defRPr>
                      </a:pPr>
                      <a:r>
                        <a:t>냄새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365D"/>
                          </a:solidFill>
                        </a:defRPr>
                      </a:pPr>
                      <a:r>
                        <a:t>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365D"/>
                          </a:solidFill>
                        </a:defRPr>
                      </a:pPr>
                      <a:r>
                        <a:t>토니모리, 아비브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A365D"/>
                          </a:solidFill>
                        </a:defRPr>
                      </a:pPr>
                      <a:r>
                        <a:t>재구매 의사 없음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365D"/>
                          </a:solidFill>
                        </a:defRPr>
                      </a:pPr>
                      <a:r>
                        <a:t>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365D"/>
                          </a:solidFill>
                        </a:defRPr>
                      </a:pPr>
                      <a:r>
                        <a:t>토리든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A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전체 Positive Points TOP 10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1097280"/>
          <a:ext cx="8595360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65120"/>
                <a:gridCol w="2865120"/>
                <a:gridCol w="2865120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Positive Point</a:t>
                      </a:r>
                    </a:p>
                  </a:txBody>
                  <a:tcPr>
                    <a:solidFill>
                      <a:srgbClr val="1A365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건수</a:t>
                      </a:r>
                    </a:p>
                  </a:txBody>
                  <a:tcPr>
                    <a:solidFill>
                      <a:srgbClr val="1A365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주요 브랜드</a:t>
                      </a:r>
                    </a:p>
                  </a:txBody>
                  <a:tcPr>
                    <a:solidFill>
                      <a:srgbClr val="1A365D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A365D"/>
                          </a:solidFill>
                        </a:defRPr>
                      </a:pPr>
                      <a:r>
                        <a:t>촉촉함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365D"/>
                          </a:solidFill>
                        </a:defRPr>
                      </a:pPr>
                      <a:r>
                        <a:t>3,312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365D"/>
                          </a:solidFill>
                        </a:defRPr>
                      </a:pPr>
                      <a:r>
                        <a:t>토리든, 에스네이처, 토니모리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A365D"/>
                          </a:solidFill>
                        </a:defRPr>
                      </a:pPr>
                      <a:r>
                        <a:t>순함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365D"/>
                          </a:solidFill>
                        </a:defRPr>
                      </a:pPr>
                      <a:r>
                        <a:t>1,958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365D"/>
                          </a:solidFill>
                        </a:defRPr>
                      </a:pPr>
                      <a:r>
                        <a:t>토리든, 독도토너, 아누아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A365D"/>
                          </a:solidFill>
                        </a:defRPr>
                      </a:pPr>
                      <a:r>
                        <a:t>재구매 의사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365D"/>
                          </a:solidFill>
                        </a:defRPr>
                      </a:pPr>
                      <a:r>
                        <a:t>1,405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365D"/>
                          </a:solidFill>
                        </a:defRPr>
                      </a:pPr>
                      <a:r>
                        <a:t>토리든, 브링그린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A365D"/>
                          </a:solidFill>
                        </a:defRPr>
                      </a:pPr>
                      <a:r>
                        <a:t>진정 효과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365D"/>
                          </a:solidFill>
                        </a:defRPr>
                      </a:pPr>
                      <a:r>
                        <a:t>956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365D"/>
                          </a:solidFill>
                        </a:defRPr>
                      </a:pPr>
                      <a:r>
                        <a:t>브링그린, 아비브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A365D"/>
                          </a:solidFill>
                        </a:defRPr>
                      </a:pPr>
                      <a:r>
                        <a:t>자극 없음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365D"/>
                          </a:solidFill>
                        </a:defRPr>
                      </a:pPr>
                      <a:r>
                        <a:t>943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365D"/>
                          </a:solidFill>
                        </a:defRPr>
                      </a:pPr>
                      <a:r>
                        <a:t>토리든, 독도토너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A365D"/>
                          </a:solidFill>
                        </a:defRPr>
                      </a:pPr>
                      <a:r>
                        <a:t>대용량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365D"/>
                          </a:solidFill>
                        </a:defRPr>
                      </a:pPr>
                      <a:r>
                        <a:t>896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365D"/>
                          </a:solidFill>
                        </a:defRPr>
                      </a:pPr>
                      <a:r>
                        <a:t>토리든, 브링그린, 토니모리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A365D"/>
                          </a:solidFill>
                        </a:defRPr>
                      </a:pPr>
                      <a:r>
                        <a:t>순하다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365D"/>
                          </a:solidFill>
                        </a:defRPr>
                      </a:pPr>
                      <a:r>
                        <a:t>864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365D"/>
                          </a:solidFill>
                        </a:defRPr>
                      </a:pPr>
                      <a:r>
                        <a:t>독도토너, 아누아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A365D"/>
                          </a:solidFill>
                        </a:defRPr>
                      </a:pPr>
                      <a:r>
                        <a:t>가성비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365D"/>
                          </a:solidFill>
                        </a:defRPr>
                      </a:pPr>
                      <a:r>
                        <a:t>613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365D"/>
                          </a:solidFill>
                        </a:defRPr>
                      </a:pPr>
                      <a:r>
                        <a:t>토니모리, 브링그린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A365D"/>
                          </a:solidFill>
                        </a:defRPr>
                      </a:pPr>
                      <a:r>
                        <a:t>추천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365D"/>
                          </a:solidFill>
                        </a:defRPr>
                      </a:pPr>
                      <a:r>
                        <a:t>577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365D"/>
                          </a:solidFill>
                        </a:defRPr>
                      </a:pPr>
                      <a:r>
                        <a:t>전체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A365D"/>
                          </a:solidFill>
                        </a:defRPr>
                      </a:pPr>
                      <a:r>
                        <a:t>수분감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365D"/>
                          </a:solidFill>
                        </a:defRPr>
                      </a:pPr>
                      <a:r>
                        <a:t>539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365D"/>
                          </a:solidFill>
                        </a:defRPr>
                      </a:pPr>
                      <a:r>
                        <a:t>에스네이처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